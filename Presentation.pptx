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79" r:id="rId3"/>
    <p:sldId id="276" r:id="rId4"/>
    <p:sldId id="258" r:id="rId5"/>
    <p:sldId id="261" r:id="rId6"/>
    <p:sldId id="262" r:id="rId7"/>
    <p:sldId id="263" r:id="rId8"/>
    <p:sldId id="265" r:id="rId9"/>
    <p:sldId id="266" r:id="rId10"/>
    <p:sldId id="269" r:id="rId11"/>
    <p:sldId id="273" r:id="rId12"/>
    <p:sldId id="278" r:id="rId13"/>
    <p:sldId id="257" r:id="rId14"/>
    <p:sldId id="259" r:id="rId15"/>
    <p:sldId id="260" r:id="rId16"/>
    <p:sldId id="264" r:id="rId17"/>
    <p:sldId id="267" r:id="rId18"/>
    <p:sldId id="268" r:id="rId19"/>
    <p:sldId id="270" r:id="rId20"/>
    <p:sldId id="271" r:id="rId21"/>
    <p:sldId id="272" r:id="rId22"/>
    <p:sldId id="275" r:id="rId23"/>
    <p:sldId id="277" r:id="rId24"/>
    <p:sldId id="274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E32FA3-4F12-F3A4-329F-9457868E46F1}" v="27" dt="2025-12-03T20:35:38.094"/>
    <p1510:client id="{27E3E4C1-742B-D854-1C1C-E2A37B7C04FB}" v="383" dt="2025-12-03T21:33:50.164"/>
    <p1510:client id="{5A5A0A10-4163-F37C-7471-3F4DFB422F9B}" v="235" dt="2025-12-03T21:25:05.025"/>
    <p1510:client id="{7C5C6C9E-5181-51AA-95E3-A2FE5A7A24E3}" v="1199" dt="2025-12-03T21:33:01.0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7371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570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007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871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669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868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9289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395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753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91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1906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526126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1130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65722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13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64863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062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0296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H-1000/HealthCare-Provider-Fraud-Detection-Project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A0292AB-D3F4-7E57-2872-98F2C66360BB}"/>
              </a:ext>
            </a:extLst>
          </p:cNvPr>
          <p:cNvSpPr txBox="1"/>
          <p:nvPr/>
        </p:nvSpPr>
        <p:spPr>
          <a:xfrm>
            <a:off x="505352" y="1952333"/>
            <a:ext cx="4471595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By:</a:t>
            </a:r>
            <a:endParaRPr lang="en-US" dirty="0"/>
          </a:p>
          <a:p>
            <a:r>
              <a:rPr lang="en-US"/>
              <a:t>Abdelhamid Elnaggar</a:t>
            </a:r>
          </a:p>
          <a:p>
            <a:r>
              <a:rPr lang="en-US"/>
              <a:t>Adham Barakat</a:t>
            </a:r>
          </a:p>
          <a:p>
            <a:r>
              <a:rPr lang="en-US"/>
              <a:t>Sherif Ahmed Halawa</a:t>
            </a:r>
          </a:p>
          <a:p>
            <a:r>
              <a:rPr lang="en-US"/>
              <a:t>Omar Bassem Talaat Mustafa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C3A766-F4AA-BA6A-5DB9-8D88579D4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9885" y="3255748"/>
            <a:ext cx="6286500" cy="3600450"/>
          </a:xfrm>
          <a:prstGeom prst="rect">
            <a:avLst/>
          </a:prstGeom>
        </p:spPr>
      </p:pic>
      <p:pic>
        <p:nvPicPr>
          <p:cNvPr id="2" name="Picture 1" descr="A person in a blue shirt&#10;&#10;AI-generated content may be incorrect.">
            <a:extLst>
              <a:ext uri="{FF2B5EF4-FFF2-40B4-BE49-F238E27FC236}">
                <a16:creationId xmlns:a16="http://schemas.microsoft.com/office/drawing/2014/main" id="{50D2549E-5152-9858-D867-1AA045594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77139" y="3051861"/>
            <a:ext cx="3802277" cy="3802277"/>
          </a:xfrm>
          <a:prstGeom prst="rect">
            <a:avLst/>
          </a:prstGeom>
        </p:spPr>
      </p:pic>
      <p:pic>
        <p:nvPicPr>
          <p:cNvPr id="3" name="Picture 2" descr="A person in a suit and bow tie&#10;&#10;AI-generated content may be incorrect.">
            <a:extLst>
              <a:ext uri="{FF2B5EF4-FFF2-40B4-BE49-F238E27FC236}">
                <a16:creationId xmlns:a16="http://schemas.microsoft.com/office/drawing/2014/main" id="{0796B2FF-9909-0ECD-EAA6-8211E16D6A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733" y="2798935"/>
            <a:ext cx="2711020" cy="4060996"/>
          </a:xfrm>
          <a:prstGeom prst="rect">
            <a:avLst/>
          </a:prstGeom>
        </p:spPr>
      </p:pic>
      <p:pic>
        <p:nvPicPr>
          <p:cNvPr id="8" name="Picture 7" descr="A person wearing glasses and a red sweatshirt holding a sign&#10;&#10;AI-generated content may be incorrect.">
            <a:extLst>
              <a:ext uri="{FF2B5EF4-FFF2-40B4-BE49-F238E27FC236}">
                <a16:creationId xmlns:a16="http://schemas.microsoft.com/office/drawing/2014/main" id="{2DB4EBB0-AA00-D061-5BF3-ACAF970534C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9011" r="-368" b="119"/>
          <a:stretch>
            <a:fillRect/>
          </a:stretch>
        </p:blipFill>
        <p:spPr>
          <a:xfrm>
            <a:off x="3565560" y="3056197"/>
            <a:ext cx="2816088" cy="37984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6FB895A-6AD7-75E5-AF93-5E29F3AE3DBC}"/>
              </a:ext>
            </a:extLst>
          </p:cNvPr>
          <p:cNvSpPr txBox="1"/>
          <p:nvPr/>
        </p:nvSpPr>
        <p:spPr>
          <a:xfrm>
            <a:off x="800470" y="358832"/>
            <a:ext cx="10212904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>
                <a:solidFill>
                  <a:srgbClr val="F0F6FC"/>
                </a:solidFill>
                <a:ea typeface="+mn-lt"/>
                <a:cs typeface="+mn-lt"/>
                <a:hlinkClick r:id="rId6"/>
              </a:rPr>
              <a:t>HealthCare-Provider-Fraud-Detection-Project</a:t>
            </a:r>
            <a:r>
              <a:rPr lang="en-US" sz="4000" dirty="0"/>
              <a:t> </a:t>
            </a:r>
            <a:r>
              <a:rPr lang="en-US" sz="4000"/>
              <a:t>Machine Learning Winter 2025</a:t>
            </a:r>
            <a:endParaRPr lang="en-US"/>
          </a:p>
        </p:txBody>
      </p:sp>
      <p:pic>
        <p:nvPicPr>
          <p:cNvPr id="10" name="Picture 9" descr="A gold text on a black background&#10;&#10;AI-generated content may be incorrect.">
            <a:extLst>
              <a:ext uri="{FF2B5EF4-FFF2-40B4-BE49-F238E27FC236}">
                <a16:creationId xmlns:a16="http://schemas.microsoft.com/office/drawing/2014/main" id="{05FE1FC5-4563-48C1-3043-5776BBC660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27184" y="129"/>
            <a:ext cx="1661469" cy="1698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C756E-15EA-602C-EE67-0A3899FC8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114EC-7F6F-BBA9-2F38-E826E2269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DATA EXPLORATION AND FEATURE ENGINEERING</a:t>
            </a:r>
          </a:p>
          <a:p>
            <a:pPr>
              <a:buClr>
                <a:srgbClr val="FFFFFF"/>
              </a:buClr>
            </a:pPr>
            <a:r>
              <a:rPr lang="en-US"/>
              <a:t>MODELING</a:t>
            </a:r>
          </a:p>
          <a:p>
            <a:pPr>
              <a:buClr>
                <a:srgbClr val="FFFFFF"/>
              </a:buClr>
            </a:pPr>
            <a:r>
              <a:rPr lang="en-US"/>
              <a:t>EVALUATION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01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45117-57C5-A2E4-11C2-B32681C7A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u="sng"/>
              <a:t>Data exploration and feature engineering.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E0AD7-D92B-357A-7135-BC16AA151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>
                <a:solidFill>
                  <a:srgbClr val="FFFFFF"/>
                </a:solidFill>
              </a:rPr>
              <a:t>Goal: Detect fraudulent Medicare providers using claim-leveldata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FFFFFF"/>
              </a:buClr>
            </a:pPr>
            <a:r>
              <a:rPr lang="en-US" sz="1800">
                <a:solidFill>
                  <a:srgbClr val="FFFFFF"/>
                </a:solidFill>
              </a:rPr>
              <a:t>Data Sources: Beneficiary, Inpatient, Outpatient, and Labelsdatasets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FFFFFF"/>
              </a:buClr>
            </a:pPr>
            <a:r>
              <a:rPr lang="en-US" sz="1800">
                <a:solidFill>
                  <a:srgbClr val="FFFFFF"/>
                </a:solidFill>
              </a:rPr>
              <a:t>Target Variable: PotentialFraud (Yes/No)</a:t>
            </a:r>
          </a:p>
          <a:p>
            <a:pPr>
              <a:buClr>
                <a:srgbClr val="FFFFFF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02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31203-8F7C-DD55-3576-9854DF003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87952" cy="1347974"/>
          </a:xfrm>
        </p:spPr>
        <p:txBody>
          <a:bodyPr/>
          <a:lstStyle/>
          <a:p>
            <a:r>
              <a:rPr lang="en-GB" b="1" u="sng">
                <a:solidFill>
                  <a:srgbClr val="0070C0"/>
                </a:solidFill>
              </a:rPr>
              <a:t>Data quality check (checking for missing values and duplicates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75406-B60A-54AC-9483-5D9606C03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436" y="1948890"/>
            <a:ext cx="10829364" cy="454183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None/>
            </a:pPr>
            <a:r>
              <a:rPr lang="en-GB" b="1">
                <a:ea typeface="+mn-lt"/>
                <a:cs typeface="+mn-lt"/>
              </a:rPr>
              <a:t>Beneficiary Data</a:t>
            </a:r>
            <a:endParaRPr lang="en-US"/>
          </a:p>
          <a:p>
            <a:pPr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Shape: (138,556, 25)</a:t>
            </a:r>
            <a:endParaRPr lang="en-GB" sz="2000"/>
          </a:p>
          <a:p>
            <a:pPr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Missing: </a:t>
            </a:r>
            <a:r>
              <a:rPr lang="en-GB" sz="2000">
                <a:latin typeface="Consolas"/>
              </a:rPr>
              <a:t>DOD</a:t>
            </a:r>
            <a:r>
              <a:rPr lang="en-GB" sz="2000">
                <a:ea typeface="+mn-lt"/>
                <a:cs typeface="+mn-lt"/>
              </a:rPr>
              <a:t> (98.97%)</a:t>
            </a:r>
            <a:endParaRPr lang="en-GB" sz="2000"/>
          </a:p>
          <a:p>
            <a:pPr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Duplicates: 0</a:t>
            </a:r>
            <a:endParaRPr lang="en-GB" sz="2000"/>
          </a:p>
          <a:p>
            <a:pPr>
              <a:buNone/>
            </a:pPr>
            <a:r>
              <a:rPr lang="en-GB" b="1">
                <a:ea typeface="+mn-lt"/>
                <a:cs typeface="+mn-lt"/>
              </a:rPr>
              <a:t>Inpatient Data</a:t>
            </a:r>
            <a:endParaRPr lang="en-GB" b="1"/>
          </a:p>
          <a:p>
            <a:pPr>
              <a:buNone/>
            </a:pPr>
            <a:r>
              <a:rPr lang="en-GB" sz="2000">
                <a:ea typeface="+mn-lt"/>
                <a:cs typeface="+mn-lt"/>
              </a:rPr>
              <a:t>Shape: (40,474, 30)</a:t>
            </a:r>
            <a:endParaRPr lang="en-GB" sz="2000"/>
          </a:p>
          <a:p>
            <a:pPr>
              <a:buNone/>
            </a:pPr>
            <a:r>
              <a:rPr lang="en-GB" sz="2000">
                <a:ea typeface="+mn-lt"/>
                <a:cs typeface="+mn-lt"/>
              </a:rPr>
              <a:t>Missing: High in </a:t>
            </a:r>
            <a:r>
              <a:rPr lang="en-GB" sz="2000" err="1">
                <a:ea typeface="+mn-lt"/>
                <a:cs typeface="+mn-lt"/>
              </a:rPr>
              <a:t>OtherPhysician</a:t>
            </a:r>
            <a:r>
              <a:rPr lang="en-GB" sz="2000">
                <a:ea typeface="+mn-lt"/>
                <a:cs typeface="+mn-lt"/>
              </a:rPr>
              <a:t>, </a:t>
            </a:r>
            <a:r>
              <a:rPr lang="en-GB" sz="2000" err="1">
                <a:ea typeface="+mn-lt"/>
                <a:cs typeface="+mn-lt"/>
              </a:rPr>
              <a:t>OperatingPhysician</a:t>
            </a:r>
            <a:r>
              <a:rPr lang="en-GB" sz="2000">
                <a:ea typeface="+mn-lt"/>
                <a:cs typeface="+mn-lt"/>
              </a:rPr>
              <a:t>, and procedure/diagnosis codes</a:t>
            </a:r>
            <a:endParaRPr lang="en-GB" sz="2000"/>
          </a:p>
          <a:p>
            <a:pPr>
              <a:buNone/>
            </a:pPr>
            <a:r>
              <a:rPr lang="en-GB" sz="2000">
                <a:ea typeface="+mn-lt"/>
                <a:cs typeface="+mn-lt"/>
              </a:rPr>
              <a:t>Duplicates: 0</a:t>
            </a:r>
            <a:endParaRPr lang="en-GB" sz="2000"/>
          </a:p>
          <a:p>
            <a:pPr>
              <a:buNone/>
            </a:pPr>
            <a:r>
              <a:rPr lang="en-GB" sz="2000" b="1">
                <a:ea typeface="+mn-lt"/>
                <a:cs typeface="+mn-lt"/>
              </a:rPr>
              <a:t>Outpatient Data</a:t>
            </a:r>
            <a:endParaRPr lang="en-GB" b="1"/>
          </a:p>
          <a:p>
            <a:pPr>
              <a:buNone/>
            </a:pPr>
            <a:r>
              <a:rPr lang="en-GB" sz="2000">
                <a:ea typeface="+mn-lt"/>
                <a:cs typeface="+mn-lt"/>
              </a:rPr>
              <a:t>Shape: (119,605, 27)</a:t>
            </a:r>
            <a:endParaRPr lang="en-GB"/>
          </a:p>
          <a:p>
            <a:pPr>
              <a:buNone/>
            </a:pPr>
            <a:r>
              <a:rPr lang="en-GB" sz="2000">
                <a:ea typeface="+mn-lt"/>
                <a:cs typeface="+mn-lt"/>
              </a:rPr>
              <a:t>Missing: Extensive in diagnosis and procedure codes</a:t>
            </a:r>
            <a:endParaRPr lang="en-GB"/>
          </a:p>
          <a:p>
            <a:pPr>
              <a:buNone/>
            </a:pPr>
            <a:r>
              <a:rPr lang="en-GB" sz="2000">
                <a:ea typeface="+mn-lt"/>
                <a:cs typeface="+mn-lt"/>
              </a:rPr>
              <a:t>Duplicates: 0</a:t>
            </a:r>
            <a:endParaRPr lang="en-GB"/>
          </a:p>
          <a:p>
            <a:pPr>
              <a:buNone/>
            </a:pPr>
            <a:endParaRPr lang="en-GB" sz="2000"/>
          </a:p>
          <a:p>
            <a:pPr marL="0" indent="0"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0507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34096-4672-4329-D672-42EA15B8C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+mj-lt"/>
                <a:cs typeface="+mj-lt"/>
              </a:rPr>
              <a:t>Preprocessing &amp; Merging</a:t>
            </a:r>
            <a:endParaRPr lang="en-US"/>
          </a:p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E8197-9661-5D10-C8DF-B0F781261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6816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ea typeface="+mn-lt"/>
                <a:cs typeface="+mn-lt"/>
              </a:rPr>
              <a:t>Combined inpatient and outpatient claims → </a:t>
            </a:r>
            <a:r>
              <a:rPr lang="en-GB" err="1">
                <a:ea typeface="+mn-lt"/>
                <a:cs typeface="+mn-lt"/>
              </a:rPr>
              <a:t>claims_df</a:t>
            </a:r>
            <a:r>
              <a:rPr lang="en-GB">
                <a:ea typeface="+mn-lt"/>
                <a:cs typeface="+mn-lt"/>
              </a:rPr>
              <a:t> (160,079 rows)</a:t>
            </a:r>
            <a:endParaRPr lang="en-GB"/>
          </a:p>
          <a:p>
            <a:r>
              <a:rPr lang="en-GB">
                <a:ea typeface="+mn-lt"/>
                <a:cs typeface="+mn-lt"/>
              </a:rPr>
              <a:t>Merged with beneficiary data on </a:t>
            </a:r>
            <a:r>
              <a:rPr lang="en-GB" err="1">
                <a:ea typeface="+mn-lt"/>
                <a:cs typeface="+mn-lt"/>
              </a:rPr>
              <a:t>BeneID</a:t>
            </a:r>
            <a:r>
              <a:rPr lang="en-GB">
                <a:ea typeface="+mn-lt"/>
                <a:cs typeface="+mn-lt"/>
              </a:rPr>
              <a:t> → </a:t>
            </a:r>
            <a:r>
              <a:rPr lang="en-GB" err="1">
                <a:ea typeface="+mn-lt"/>
                <a:cs typeface="+mn-lt"/>
              </a:rPr>
              <a:t>full_df</a:t>
            </a:r>
            <a:r>
              <a:rPr lang="en-GB">
                <a:ea typeface="+mn-lt"/>
                <a:cs typeface="+mn-lt"/>
              </a:rPr>
              <a:t> (160,079 rows, 55 columns)</a:t>
            </a:r>
            <a:endParaRPr lang="en-GB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0931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7562A-D74D-C0C9-4DE1-26409C0EB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4563"/>
          </a:xfrm>
        </p:spPr>
        <p:txBody>
          <a:bodyPr/>
          <a:lstStyle/>
          <a:p>
            <a:r>
              <a:rPr lang="en-GB">
                <a:ea typeface="+mj-lt"/>
                <a:cs typeface="+mj-lt"/>
              </a:rPr>
              <a:t>Feature Engineering (Provider Level)</a:t>
            </a:r>
            <a:endParaRPr lang="en-US"/>
          </a:p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05515-CB69-1398-EB06-C10FF185C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171" y="1422214"/>
            <a:ext cx="10952629" cy="46426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+mn-lt"/>
                <a:cs typeface="+mn-lt"/>
              </a:rPr>
              <a:t>Aggregated by Provider to create: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Claim Volume: Total, Inpatient, Outpatient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Financials: Total/</a:t>
            </a:r>
            <a:r>
              <a:rPr lang="en-GB" dirty="0" err="1">
                <a:ea typeface="+mn-lt"/>
                <a:cs typeface="+mn-lt"/>
              </a:rPr>
              <a:t>Avg</a:t>
            </a:r>
            <a:r>
              <a:rPr lang="en-GB" dirty="0">
                <a:ea typeface="+mn-lt"/>
                <a:cs typeface="+mn-lt"/>
              </a:rPr>
              <a:t> Reimbursed, Deductibles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Network: Unique Beneficiaries, Attending Physicians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Patient Profile: </a:t>
            </a:r>
            <a:r>
              <a:rPr lang="en-GB" dirty="0" err="1">
                <a:ea typeface="+mn-lt"/>
                <a:cs typeface="+mn-lt"/>
              </a:rPr>
              <a:t>Avg</a:t>
            </a:r>
            <a:r>
              <a:rPr lang="en-GB" dirty="0">
                <a:ea typeface="+mn-lt"/>
                <a:cs typeface="+mn-lt"/>
              </a:rPr>
              <a:t> Age, Chronic Conditions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Geography: Most Common State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Final shape: </a:t>
            </a:r>
            <a:r>
              <a:rPr lang="en-GB" err="1">
                <a:ea typeface="+mn-lt"/>
                <a:cs typeface="+mn-lt"/>
              </a:rPr>
              <a:t>provider_df</a:t>
            </a:r>
            <a:r>
              <a:rPr lang="en-GB" dirty="0">
                <a:ea typeface="+mn-lt"/>
                <a:cs typeface="+mn-lt"/>
              </a:rPr>
              <a:t> → (4,956, 24)</a:t>
            </a:r>
            <a:endParaRPr lang="en-GB" dirty="0" err="1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8392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2639D-2FAA-C4DA-4A17-08AF2BE78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Final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16061-746D-BCAB-0472-54AA3638FD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096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GB">
                <a:ea typeface="+mn-lt"/>
                <a:cs typeface="+mn-lt"/>
              </a:rPr>
              <a:t>Merged with fraud labels → </a:t>
            </a:r>
            <a:r>
              <a:rPr lang="en-GB" err="1">
                <a:ea typeface="+mn-lt"/>
                <a:cs typeface="+mn-lt"/>
              </a:rPr>
              <a:t>final_df</a:t>
            </a:r>
            <a:endParaRPr lang="en-US" err="1"/>
          </a:p>
          <a:p>
            <a:pPr>
              <a:buNone/>
            </a:pPr>
            <a:r>
              <a:rPr lang="en-GB">
                <a:ea typeface="+mn-lt"/>
                <a:cs typeface="+mn-lt"/>
              </a:rPr>
              <a:t>Encoded </a:t>
            </a:r>
            <a:r>
              <a:rPr lang="en-GB" err="1">
                <a:ea typeface="+mn-lt"/>
                <a:cs typeface="+mn-lt"/>
              </a:rPr>
              <a:t>PotentialFraud</a:t>
            </a:r>
            <a:r>
              <a:rPr lang="en-GB">
                <a:ea typeface="+mn-lt"/>
                <a:cs typeface="+mn-lt"/>
              </a:rPr>
              <a:t>: Yes → 1, No → 0</a:t>
            </a:r>
            <a:endParaRPr lang="en-GB"/>
          </a:p>
          <a:p>
            <a:pPr>
              <a:buNone/>
            </a:pPr>
            <a:r>
              <a:rPr lang="en-GB">
                <a:ea typeface="+mn-lt"/>
                <a:cs typeface="+mn-lt"/>
              </a:rPr>
              <a:t>Final shape: (4,956, 25)</a:t>
            </a:r>
            <a:endParaRPr lang="en-GB"/>
          </a:p>
          <a:p>
            <a:pPr marL="0" indent="0"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1718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BE94E-DDC3-0A3D-6597-3FA092C56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174" y="640823"/>
            <a:ext cx="4269006" cy="5461671"/>
          </a:xfrm>
        </p:spPr>
        <p:txBody>
          <a:bodyPr anchor="ctr">
            <a:normAutofit/>
          </a:bodyPr>
          <a:lstStyle/>
          <a:p>
            <a:r>
              <a:rPr lang="en-GB" sz="5400">
                <a:ea typeface="+mj-lt"/>
                <a:cs typeface="+mj-lt"/>
              </a:rPr>
              <a:t>Class Imbalance</a:t>
            </a:r>
            <a:endParaRPr lang="en-US" sz="5400"/>
          </a:p>
          <a:p>
            <a:endParaRPr lang="en-GB" sz="54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B4DCEB-8516-E30A-5045-F46CA62EB38E}"/>
              </a:ext>
            </a:extLst>
          </p:cNvPr>
          <p:cNvSpPr txBox="1"/>
          <p:nvPr/>
        </p:nvSpPr>
        <p:spPr>
          <a:xfrm>
            <a:off x="4807324" y="1288677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Fraudulent Providers(1): 10.2%</a:t>
            </a:r>
          </a:p>
          <a:p>
            <a:r>
              <a:rPr lang="en-US"/>
              <a:t>Non-Fraudulent Providers(0): 89.8%</a:t>
            </a:r>
          </a:p>
          <a:p>
            <a:r>
              <a:rPr lang="en-US"/>
              <a:t>Imbalance highlights need for careful model evaluation</a:t>
            </a:r>
          </a:p>
          <a:p>
            <a:pPr algn="ctr"/>
            <a:endParaRPr lang="en-GB"/>
          </a:p>
        </p:txBody>
      </p:sp>
      <p:pic>
        <p:nvPicPr>
          <p:cNvPr id="20" name="Picture 19" descr="A graph of a distribution of potential fraud&#10;&#10;AI-generated content may be incorrect.">
            <a:extLst>
              <a:ext uri="{FF2B5EF4-FFF2-40B4-BE49-F238E27FC236}">
                <a16:creationId xmlns:a16="http://schemas.microsoft.com/office/drawing/2014/main" id="{C735BB58-E7E3-8635-8751-9DD50207E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3983" y="2591015"/>
            <a:ext cx="5149022" cy="404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320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5DCF1-4C13-5E34-085F-2CC1BBF6A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7376" y="454772"/>
            <a:ext cx="10515600" cy="373063"/>
          </a:xfrm>
        </p:spPr>
        <p:txBody>
          <a:bodyPr>
            <a:normAutofit fontScale="90000"/>
          </a:bodyPr>
          <a:lstStyle/>
          <a:p>
            <a:r>
              <a:rPr lang="en-GB">
                <a:ea typeface="+mj-lt"/>
                <a:cs typeface="+mj-lt"/>
              </a:rPr>
              <a:t>Financials vs Fraud</a:t>
            </a:r>
            <a:endParaRPr lang="en-US"/>
          </a:p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841C0-04AA-8ED3-B4FE-6E90D7B3B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37802"/>
            <a:ext cx="5741894" cy="5561572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GB" b="1" err="1">
                <a:ea typeface="+mn-lt"/>
                <a:cs typeface="+mn-lt"/>
              </a:rPr>
              <a:t>Avg</a:t>
            </a:r>
            <a:r>
              <a:rPr lang="en-GB" b="1">
                <a:ea typeface="+mn-lt"/>
                <a:cs typeface="+mn-lt"/>
              </a:rPr>
              <a:t> Reimbursed Amount</a:t>
            </a:r>
          </a:p>
          <a:p>
            <a:r>
              <a:rPr lang="en-GB">
                <a:ea typeface="+mn-lt"/>
                <a:cs typeface="+mn-lt"/>
              </a:rPr>
              <a:t>Non-Fraudulent Providers (0): Lower median reimbursement, tighter distribution.</a:t>
            </a:r>
            <a:endParaRPr lang="en-GB"/>
          </a:p>
          <a:p>
            <a:r>
              <a:rPr lang="en-GB">
                <a:ea typeface="+mn-lt"/>
                <a:cs typeface="+mn-lt"/>
              </a:rPr>
              <a:t>Fraudulent Providers (1):</a:t>
            </a:r>
            <a:endParaRPr lang="en-GB"/>
          </a:p>
          <a:p>
            <a:r>
              <a:rPr lang="en-GB">
                <a:ea typeface="+mn-lt"/>
                <a:cs typeface="+mn-lt"/>
              </a:rPr>
              <a:t>Higher median average reimbursement.</a:t>
            </a:r>
            <a:endParaRPr lang="en-GB"/>
          </a:p>
          <a:p>
            <a:r>
              <a:rPr lang="en-GB">
                <a:ea typeface="+mn-lt"/>
                <a:cs typeface="+mn-lt"/>
              </a:rPr>
              <a:t>Wider interquartile range → more variability.</a:t>
            </a:r>
            <a:endParaRPr lang="en-GB"/>
          </a:p>
          <a:p>
            <a:r>
              <a:rPr lang="en-GB">
                <a:ea typeface="+mn-lt"/>
                <a:cs typeface="+mn-lt"/>
              </a:rPr>
              <a:t>Numerous outliers → some providers consistently claim unusually high amounts.</a:t>
            </a:r>
            <a:endParaRPr lang="en-GB"/>
          </a:p>
          <a:p>
            <a:r>
              <a:rPr lang="en-GB">
                <a:ea typeface="+mn-lt"/>
                <a:cs typeface="+mn-lt"/>
              </a:rPr>
              <a:t>Insight: Fraudulent providers tend to submit claims with higher average reimbursement per claim, suggesting possible inflation or manipulation of individual claim values.</a:t>
            </a:r>
          </a:p>
          <a:p>
            <a:r>
              <a:rPr lang="en-GB" b="1">
                <a:ea typeface="+mn-lt"/>
                <a:cs typeface="+mn-lt"/>
              </a:rPr>
              <a:t>Total Reimbursed Amount </a:t>
            </a:r>
            <a:endParaRPr lang="en-GB">
              <a:ea typeface="+mn-lt"/>
              <a:cs typeface="+mn-lt"/>
            </a:endParaRPr>
          </a:p>
          <a:p>
            <a:r>
              <a:rPr lang="en-GB">
                <a:ea typeface="+mn-lt"/>
                <a:cs typeface="+mn-lt"/>
              </a:rPr>
              <a:t>Non-Fraudulent Providers (0): Lower total reimbursement, fewer extreme values.</a:t>
            </a:r>
            <a:endParaRPr lang="en-GB"/>
          </a:p>
          <a:p>
            <a:r>
              <a:rPr lang="en-GB">
                <a:ea typeface="+mn-lt"/>
                <a:cs typeface="+mn-lt"/>
              </a:rPr>
              <a:t>Fraudulent Providers (1):</a:t>
            </a:r>
            <a:endParaRPr lang="en-GB"/>
          </a:p>
          <a:p>
            <a:r>
              <a:rPr lang="en-GB">
                <a:ea typeface="+mn-lt"/>
                <a:cs typeface="+mn-lt"/>
              </a:rPr>
              <a:t>Significantly higher total reimbursement.</a:t>
            </a:r>
            <a:endParaRPr lang="en-GB"/>
          </a:p>
          <a:p>
            <a:r>
              <a:rPr lang="en-GB">
                <a:ea typeface="+mn-lt"/>
                <a:cs typeface="+mn-lt"/>
              </a:rPr>
              <a:t>Greater spread and more extreme outliers.</a:t>
            </a:r>
            <a:endParaRPr lang="en-GB"/>
          </a:p>
          <a:p>
            <a:r>
              <a:rPr lang="en-GB">
                <a:ea typeface="+mn-lt"/>
                <a:cs typeface="+mn-lt"/>
              </a:rPr>
              <a:t>Insight: Fraudulent providers not only inflate individual claims but also accumulate much larger total reimbursements, possibly due to high claim volume or bundling strategies.</a:t>
            </a:r>
            <a:endParaRPr lang="en-GB"/>
          </a:p>
          <a:p>
            <a:endParaRPr lang="en-GB"/>
          </a:p>
          <a:p>
            <a:endParaRPr lang="en-GB"/>
          </a:p>
        </p:txBody>
      </p:sp>
      <p:pic>
        <p:nvPicPr>
          <p:cNvPr id="5" name="Picture 4" descr="A comparison of a graph&#10;&#10;AI-generated content may be incorrect.">
            <a:extLst>
              <a:ext uri="{FF2B5EF4-FFF2-40B4-BE49-F238E27FC236}">
                <a16:creationId xmlns:a16="http://schemas.microsoft.com/office/drawing/2014/main" id="{C7AD16C6-D11F-191E-4ABD-8ADB08EEF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489" y="1252664"/>
            <a:ext cx="5588966" cy="394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485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C1A9F-7690-B03C-DABD-E7EADB6F5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</p:spPr>
        <p:txBody>
          <a:bodyPr>
            <a:normAutofit/>
          </a:bodyPr>
          <a:lstStyle/>
          <a:p>
            <a:r>
              <a:rPr lang="en-GB">
                <a:ea typeface="+mj-lt"/>
                <a:cs typeface="+mj-lt"/>
              </a:rPr>
              <a:t>Claims Volume vs Fraud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42557A-A4F2-FF77-11D6-B8D8E6107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46" y="454423"/>
            <a:ext cx="7534729" cy="3495596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B05A8B-898A-95F5-6A55-61BD2F6BEC1E}"/>
              </a:ext>
            </a:extLst>
          </p:cNvPr>
          <p:cNvSpPr txBox="1"/>
          <p:nvPr/>
        </p:nvSpPr>
        <p:spPr>
          <a:xfrm>
            <a:off x="7956177" y="459441"/>
            <a:ext cx="4684059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Non-Fraudulent Providers (0):</a:t>
            </a:r>
          </a:p>
          <a:p>
            <a:r>
              <a:rPr lang="en-US"/>
              <a:t>Lower median number of claims.</a:t>
            </a:r>
          </a:p>
          <a:p>
            <a:r>
              <a:rPr lang="en-US"/>
              <a:t>Narrow interquartile range → consistent claim behavior.</a:t>
            </a:r>
          </a:p>
          <a:p>
            <a:r>
              <a:rPr lang="en-US"/>
              <a:t>Few outliers → most providers operate within expected bounds.</a:t>
            </a:r>
          </a:p>
          <a:p>
            <a:r>
              <a:rPr lang="en-US"/>
              <a:t>Fraudulent Providers (1):</a:t>
            </a:r>
          </a:p>
          <a:p>
            <a:r>
              <a:rPr lang="en-US"/>
              <a:t>Higher median claim count.</a:t>
            </a:r>
          </a:p>
          <a:p>
            <a:r>
              <a:rPr lang="en-US"/>
              <a:t>Wider interquartile range → more variability in claim volume.</a:t>
            </a:r>
          </a:p>
          <a:p>
            <a:r>
              <a:rPr lang="en-US"/>
              <a:t>Numerous extreme outliers → some providers submit up to ~2000 claims.</a:t>
            </a:r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936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BADDD09E-8094-4188-9090-C1C7840FE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66E4C7-75C9-FE39-9658-D810B9A17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114" y="4487332"/>
            <a:ext cx="4205003" cy="1507067"/>
          </a:xfrm>
        </p:spPr>
        <p:txBody>
          <a:bodyPr>
            <a:normAutofit/>
          </a:bodyPr>
          <a:lstStyle/>
          <a:p>
            <a:r>
              <a:rPr lang="en-GB" sz="3200">
                <a:ea typeface="+mj-lt"/>
                <a:cs typeface="+mj-lt"/>
              </a:rPr>
              <a:t>Correlation Heatmap</a:t>
            </a:r>
            <a:endParaRPr lang="en-US" sz="3200"/>
          </a:p>
          <a:p>
            <a:endParaRPr lang="en-GB" sz="3200"/>
          </a:p>
        </p:txBody>
      </p:sp>
      <p:sp>
        <p:nvSpPr>
          <p:cNvPr id="49" name="Snip Diagonal Corner Rectangle 24">
            <a:extLst>
              <a:ext uri="{FF2B5EF4-FFF2-40B4-BE49-F238E27FC236}">
                <a16:creationId xmlns:a16="http://schemas.microsoft.com/office/drawing/2014/main" id="{C58F6CE0-025D-40A5-AEF1-00954E3F9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000" y="620722"/>
            <a:ext cx="5136155" cy="5286838"/>
          </a:xfrm>
          <a:prstGeom prst="snip2DiagRect">
            <a:avLst>
              <a:gd name="adj1" fmla="val 9954"/>
              <a:gd name="adj2" fmla="val 0"/>
            </a:avLst>
          </a:prstGeom>
          <a:solidFill>
            <a:schemeClr val="tx1"/>
          </a:solidFill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 shot of a flag&#10;&#10;AI-generated content may be incorrect.">
            <a:extLst>
              <a:ext uri="{FF2B5EF4-FFF2-40B4-BE49-F238E27FC236}">
                <a16:creationId xmlns:a16="http://schemas.microsoft.com/office/drawing/2014/main" id="{B83949D7-51D9-7A4A-02A4-A310A642CA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939" r="10936" b="-3"/>
          <a:stretch>
            <a:fillRect/>
          </a:stretch>
        </p:blipFill>
        <p:spPr>
          <a:xfrm>
            <a:off x="245032" y="-196751"/>
            <a:ext cx="5516525" cy="7186826"/>
          </a:xfrm>
          <a:custGeom>
            <a:avLst/>
            <a:gdLst/>
            <a:ahLst/>
            <a:cxnLst/>
            <a:rect l="l" t="t" r="r" b="b"/>
            <a:pathLst>
              <a:path w="4809744" h="4956048">
                <a:moveTo>
                  <a:pt x="478762" y="0"/>
                </a:moveTo>
                <a:lnTo>
                  <a:pt x="4809744" y="0"/>
                </a:lnTo>
                <a:lnTo>
                  <a:pt x="4809744" y="4477286"/>
                </a:lnTo>
                <a:lnTo>
                  <a:pt x="4330982" y="4956048"/>
                </a:lnTo>
                <a:lnTo>
                  <a:pt x="0" y="4956048"/>
                </a:lnTo>
                <a:lnTo>
                  <a:pt x="0" y="478762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C129B-B281-0D7E-1C80-277BC7789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4085" y="619539"/>
            <a:ext cx="4819653" cy="361526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500" b="1">
                <a:ea typeface="+mn-lt"/>
                <a:cs typeface="+mn-lt"/>
              </a:rPr>
              <a:t>Strong Positive Correlation (Red):</a:t>
            </a:r>
            <a:endParaRPr lang="en-GB" sz="1500" b="1"/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GB" sz="1500">
                <a:ea typeface="+mn-lt"/>
                <a:cs typeface="+mn-lt"/>
              </a:rPr>
              <a:t>Features move together — when one increases, the other tends to increase.</a:t>
            </a:r>
            <a:endParaRPr lang="en-GB" sz="1500"/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GB" sz="1500">
                <a:ea typeface="+mn-lt"/>
                <a:cs typeface="+mn-lt"/>
              </a:rPr>
              <a:t>Example: TotalClaims ↔ TotalReimbursed</a:t>
            </a:r>
            <a:endParaRPr lang="en-GB" sz="1500"/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GB" sz="1500">
                <a:ea typeface="+mn-lt"/>
                <a:cs typeface="+mn-lt"/>
              </a:rPr>
              <a:t>Weak or No Correlation (Blue/Neutral):</a:t>
            </a:r>
            <a:endParaRPr lang="en-GB" sz="1500"/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GB" sz="1500" b="1">
                <a:ea typeface="+mn-lt"/>
                <a:cs typeface="+mn-lt"/>
              </a:rPr>
              <a:t>Features behave independently.</a:t>
            </a:r>
            <a:endParaRPr lang="en-GB" sz="1500" b="1"/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GB" sz="1500">
                <a:ea typeface="+mn-lt"/>
                <a:cs typeface="+mn-lt"/>
              </a:rPr>
              <a:t>Example: MostCommonState ↔ AvgDeductible</a:t>
            </a:r>
            <a:endParaRPr lang="en-GB" sz="1500"/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GB" sz="1500" b="1">
                <a:ea typeface="+mn-lt"/>
                <a:cs typeface="+mn-lt"/>
              </a:rPr>
              <a:t>Clusters of Red Blocks:</a:t>
            </a:r>
            <a:endParaRPr lang="en-GB" sz="1500" b="1"/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GB" sz="1500">
                <a:ea typeface="+mn-lt"/>
                <a:cs typeface="+mn-lt"/>
              </a:rPr>
              <a:t>Indicate groups of features that are tightly linked — useful for dimensionality reduction or feature grouping.</a:t>
            </a:r>
            <a:endParaRPr lang="en-GB" sz="1500"/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en-GB" sz="150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8025A22-9C86-4108-A289-BD5650A8EA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59A3623F-EF59-4F0B-9030-79CB7F9950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9EBD0F53-A43D-414A-8653-E9F1D36103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908661C0-6128-4F64-8EDF-2D73D5F47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C8AFEF08-AFBA-4125-B170-D3EB3E11DB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AA0E13BF-B4CA-4B20-A5DD-50ABBAEC7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99517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B4E68-2AC7-1E20-4260-B16529C78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321681"/>
            <a:ext cx="3874053" cy="524198"/>
          </a:xfrm>
        </p:spPr>
        <p:txBody>
          <a:bodyPr>
            <a:normAutofit fontScale="90000"/>
          </a:bodyPr>
          <a:lstStyle/>
          <a:p>
            <a:r>
              <a:rPr lang="en-GB">
                <a:ea typeface="+mj-lt"/>
                <a:cs typeface="+mj-lt"/>
              </a:rPr>
              <a:t>Geographic Fraud Patterns</a:t>
            </a:r>
            <a:endParaRPr lang="en-US"/>
          </a:p>
          <a:p>
            <a:endParaRPr lang="en-GB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4110A6F-CDE5-297A-4AA7-1C25E69EC8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7518" y="166272"/>
            <a:ext cx="8468138" cy="36051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7A51F8-DA55-0F75-C85A-91E2A7AE2D93}"/>
              </a:ext>
            </a:extLst>
          </p:cNvPr>
          <p:cNvSpPr txBox="1"/>
          <p:nvPr/>
        </p:nvSpPr>
        <p:spPr>
          <a:xfrm>
            <a:off x="5554870" y="4953000"/>
            <a:ext cx="60960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This chart shows the fraud rate by state, based on the most common patient state per provider.</a:t>
            </a:r>
          </a:p>
          <a:p>
            <a:r>
              <a:rPr lang="en-US"/>
              <a:t>States are represented by numerical codes, sorted from highest to lowest fraud rate.</a:t>
            </a:r>
          </a:p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4EC991-4DB4-3DD3-D728-2CA4FD3ACC3D}"/>
              </a:ext>
            </a:extLst>
          </p:cNvPr>
          <p:cNvSpPr txBox="1"/>
          <p:nvPr/>
        </p:nvSpPr>
        <p:spPr>
          <a:xfrm>
            <a:off x="9353826" y="314739"/>
            <a:ext cx="1855305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State 49 has the highest fraud rate, exceeding 20%.</a:t>
            </a:r>
          </a:p>
          <a:p>
            <a:r>
              <a:rPr lang="en-US"/>
              <a:t>State 41 has the lowest fraud rate, below 4%.</a:t>
            </a:r>
          </a:p>
          <a:p>
            <a:r>
              <a:rPr lang="en-US"/>
              <a:t>There's a noticeable regional disparity in fraud prevalence.</a:t>
            </a:r>
          </a:p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1A8BB6-5F4F-7000-B111-E78E281DCAF2}"/>
              </a:ext>
            </a:extLst>
          </p:cNvPr>
          <p:cNvSpPr txBox="1"/>
          <p:nvPr/>
        </p:nvSpPr>
        <p:spPr>
          <a:xfrm>
            <a:off x="508000" y="4964043"/>
            <a:ext cx="460513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Geographic variation may reflect:</a:t>
            </a:r>
          </a:p>
          <a:p>
            <a:r>
              <a:rPr lang="en-US"/>
              <a:t>Differences in regulatory oversight</a:t>
            </a:r>
          </a:p>
          <a:p>
            <a:r>
              <a:rPr lang="en-US"/>
              <a:t>Provider behavior or claim practices</a:t>
            </a:r>
          </a:p>
          <a:p>
            <a:r>
              <a:rPr lang="en-US"/>
              <a:t>Access to healthcare services or systemic vulnerabilities</a:t>
            </a:r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065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B19D7-8CFD-5A6E-5C71-DD6734831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63137-FA92-6AF1-9891-1FB844295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We import all the libraries which will be used in the modeling.</a:t>
            </a:r>
          </a:p>
          <a:p>
            <a:r>
              <a:rPr lang="en-US" dirty="0"/>
              <a:t>Load the processed data in the  .csv file which we got from the data exploration.</a:t>
            </a:r>
          </a:p>
          <a:p>
            <a:r>
              <a:rPr lang="en-US" dirty="0"/>
              <a:t>Split data into 80% for Training and 20% for testing.</a:t>
            </a:r>
          </a:p>
          <a:p>
            <a:r>
              <a:rPr lang="en-US" dirty="0"/>
              <a:t>Handling missing values , Standardizing  the data </a:t>
            </a:r>
          </a:p>
          <a:p>
            <a:pPr marL="0" indent="0">
              <a:buNone/>
            </a:pPr>
            <a:r>
              <a:rPr lang="en-US" dirty="0"/>
              <a:t>Numerical values = median </a:t>
            </a:r>
          </a:p>
          <a:p>
            <a:pPr marL="0" indent="0">
              <a:buNone/>
            </a:pPr>
            <a:r>
              <a:rPr lang="en-US" dirty="0"/>
              <a:t>while we ignore the value of categorical 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57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9D255-7D59-9E11-3DB0-156224108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training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94C15-D8CB-FFE9-A853-5D1AB64CE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sz="1100" dirty="0">
              <a:solidFill>
                <a:srgbClr val="CCCCCC"/>
              </a:solidFill>
              <a:latin typeface="Consolas"/>
            </a:endParaRPr>
          </a:p>
          <a:p>
            <a:pPr marL="0" indent="0">
              <a:buNone/>
            </a:pPr>
            <a:r>
              <a:rPr lang="en-US" dirty="0"/>
              <a:t>We tested three models :</a:t>
            </a:r>
          </a:p>
          <a:p>
            <a:pPr marL="0" indent="0">
              <a:buNone/>
            </a:pPr>
            <a:r>
              <a:rPr lang="en-US" dirty="0"/>
              <a:t>1-logistic regression.</a:t>
            </a:r>
          </a:p>
          <a:p>
            <a:pPr marL="0" indent="0">
              <a:buNone/>
            </a:pPr>
            <a:r>
              <a:rPr lang="en-US" dirty="0"/>
              <a:t>2-Random Forrest.</a:t>
            </a:r>
          </a:p>
          <a:p>
            <a:pPr marL="0" indent="0">
              <a:buNone/>
            </a:pPr>
            <a:r>
              <a:rPr lang="en-US" dirty="0"/>
              <a:t>3-Gradient Boosting. 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used the SMOTE to handle class imbalance</a:t>
            </a:r>
          </a:p>
        </p:txBody>
      </p:sp>
    </p:spTree>
    <p:extLst>
      <p:ext uri="{BB962C8B-B14F-4D97-AF65-F5344CB8AC3E}">
        <p14:creationId xmlns:p14="http://schemas.microsoft.com/office/powerpoint/2010/main" val="1271040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9C16B-F919-368E-19C1-3024C1C09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4837E-BC64-96A4-9B7B-2908F97C2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1200" dirty="0">
                <a:ea typeface="+mn-lt"/>
                <a:cs typeface="+mn-lt"/>
              </a:rPr>
              <a:t>Training Logistic Regression...</a:t>
            </a:r>
            <a:endParaRPr lang="en-US" sz="1200" dirty="0"/>
          </a:p>
          <a:p>
            <a:pPr>
              <a:buNone/>
            </a:pPr>
            <a:r>
              <a:rPr lang="en-US" sz="1200" dirty="0">
                <a:ea typeface="+mn-lt"/>
                <a:cs typeface="+mn-lt"/>
              </a:rPr>
              <a:t>Logistic Regression Results:</a:t>
            </a:r>
            <a:endParaRPr lang="en-US" sz="1200" dirty="0"/>
          </a:p>
          <a:p>
            <a:pPr>
              <a:buNone/>
            </a:pPr>
            <a:r>
              <a:rPr lang="en-US" sz="1200" dirty="0">
                <a:ea typeface="+mn-lt"/>
                <a:cs typeface="+mn-lt"/>
              </a:rPr>
              <a:t>ROC AUC: 0.9554</a:t>
            </a:r>
            <a:endParaRPr lang="en-US" sz="1200" dirty="0"/>
          </a:p>
          <a:p>
            <a:pPr>
              <a:buNone/>
            </a:pPr>
            <a:r>
              <a:rPr lang="en-US" sz="1200" dirty="0">
                <a:ea typeface="+mn-lt"/>
                <a:cs typeface="+mn-lt"/>
              </a:rPr>
              <a:t>PR AUC: 0.7570</a:t>
            </a:r>
            <a:endParaRPr lang="en-US" sz="1200" dirty="0"/>
          </a:p>
          <a:p>
            <a:pPr>
              <a:buNone/>
            </a:pPr>
            <a:endParaRPr lang="en-US" sz="1200" dirty="0"/>
          </a:p>
          <a:p>
            <a:pPr>
              <a:buNone/>
            </a:pPr>
            <a:r>
              <a:rPr lang="en-US" sz="1200" dirty="0">
                <a:ea typeface="+mn-lt"/>
                <a:cs typeface="+mn-lt"/>
              </a:rPr>
              <a:t>Training Random Forest...</a:t>
            </a:r>
            <a:endParaRPr lang="en-US" sz="1200" dirty="0"/>
          </a:p>
          <a:p>
            <a:pPr>
              <a:buNone/>
            </a:pPr>
            <a:r>
              <a:rPr lang="en-US" sz="1200" dirty="0">
                <a:ea typeface="+mn-lt"/>
                <a:cs typeface="+mn-lt"/>
              </a:rPr>
              <a:t>Random Forest Results:</a:t>
            </a:r>
            <a:endParaRPr lang="en-US" sz="1200" dirty="0"/>
          </a:p>
          <a:p>
            <a:pPr>
              <a:buNone/>
            </a:pPr>
            <a:r>
              <a:rPr lang="en-US" sz="1200" dirty="0">
                <a:ea typeface="+mn-lt"/>
                <a:cs typeface="+mn-lt"/>
              </a:rPr>
              <a:t>ROC AUC: 0.9429</a:t>
            </a:r>
            <a:endParaRPr lang="en-US" sz="1200" dirty="0"/>
          </a:p>
          <a:p>
            <a:pPr>
              <a:buNone/>
            </a:pPr>
            <a:r>
              <a:rPr lang="en-US" sz="1200" dirty="0">
                <a:ea typeface="+mn-lt"/>
                <a:cs typeface="+mn-lt"/>
              </a:rPr>
              <a:t>PR AUC: 0.6962</a:t>
            </a:r>
            <a:endParaRPr lang="en-US" sz="1200" dirty="0"/>
          </a:p>
          <a:p>
            <a:pPr>
              <a:buNone/>
            </a:pPr>
            <a:endParaRPr lang="en-US" sz="1200" dirty="0"/>
          </a:p>
          <a:p>
            <a:pPr>
              <a:buNone/>
            </a:pPr>
            <a:r>
              <a:rPr lang="en-US" sz="1200" dirty="0">
                <a:ea typeface="+mn-lt"/>
                <a:cs typeface="+mn-lt"/>
              </a:rPr>
              <a:t>Gradient Boosting Results:</a:t>
            </a:r>
            <a:endParaRPr lang="en-US" sz="1200" dirty="0"/>
          </a:p>
          <a:p>
            <a:pPr>
              <a:buNone/>
            </a:pPr>
            <a:r>
              <a:rPr lang="en-US" sz="1200" dirty="0">
                <a:ea typeface="+mn-lt"/>
                <a:cs typeface="+mn-lt"/>
              </a:rPr>
              <a:t>ROC AUC: 0.9410</a:t>
            </a:r>
            <a:endParaRPr lang="en-US" sz="1200" dirty="0"/>
          </a:p>
          <a:p>
            <a:pPr>
              <a:buNone/>
            </a:pPr>
            <a:r>
              <a:rPr lang="en-US" sz="1200" dirty="0">
                <a:ea typeface="+mn-lt"/>
                <a:cs typeface="+mn-lt"/>
              </a:rPr>
              <a:t>PR AUC: 0.7290</a:t>
            </a:r>
            <a:endParaRPr lang="en-US" sz="1200" dirty="0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6643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946FB-D63C-29D5-AB45-8C3DFA4D8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Hyperparameter tuning (random forest)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60492-6AE9-52A6-E82C-99D50D860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200" dirty="0" err="1">
                <a:solidFill>
                  <a:srgbClr val="9CDCFE"/>
                </a:solidFill>
                <a:latin typeface="Consolas"/>
              </a:rPr>
              <a:t>param_dist</a:t>
            </a:r>
            <a:r>
              <a:rPr lang="en-US" sz="12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200" dirty="0">
                <a:solidFill>
                  <a:srgbClr val="CCCCCC"/>
                </a:solidFill>
                <a:latin typeface="Consolas"/>
              </a:rPr>
              <a:t> {</a:t>
            </a:r>
            <a:endParaRPr lang="en-US" sz="1200">
              <a:solidFill>
                <a:srgbClr val="0F496F"/>
              </a:solidFill>
              <a:latin typeface="Century Gothic"/>
            </a:endParaRPr>
          </a:p>
          <a:p>
            <a:pPr>
              <a:buClr>
                <a:srgbClr val="FFFFFF"/>
              </a:buClr>
            </a:pPr>
            <a:r>
              <a:rPr lang="en-US" sz="1200" dirty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200" dirty="0">
                <a:solidFill>
                  <a:srgbClr val="CE9178"/>
                </a:solidFill>
                <a:latin typeface="Consolas"/>
              </a:rPr>
              <a:t>'classifier__</a:t>
            </a:r>
            <a:r>
              <a:rPr lang="en-US" sz="1200" dirty="0" err="1">
                <a:solidFill>
                  <a:srgbClr val="CE9178"/>
                </a:solidFill>
                <a:latin typeface="Consolas"/>
              </a:rPr>
              <a:t>n_estimators</a:t>
            </a:r>
            <a:r>
              <a:rPr lang="en-US" sz="1200" dirty="0">
                <a:solidFill>
                  <a:srgbClr val="CE9178"/>
                </a:solidFill>
                <a:latin typeface="Consolas"/>
              </a:rPr>
              <a:t>'</a:t>
            </a:r>
            <a:r>
              <a:rPr lang="en-US" sz="1200" dirty="0">
                <a:solidFill>
                  <a:srgbClr val="CCCCCC"/>
                </a:solidFill>
                <a:latin typeface="Consolas"/>
              </a:rPr>
              <a:t>: [</a:t>
            </a:r>
            <a:r>
              <a:rPr lang="en-US" sz="1200" dirty="0">
                <a:solidFill>
                  <a:srgbClr val="B5CEA8"/>
                </a:solidFill>
                <a:latin typeface="Consolas"/>
              </a:rPr>
              <a:t>100</a:t>
            </a:r>
            <a:r>
              <a:rPr lang="en-US" sz="1200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sz="1200" dirty="0">
                <a:solidFill>
                  <a:srgbClr val="B5CEA8"/>
                </a:solidFill>
                <a:latin typeface="Consolas"/>
              </a:rPr>
              <a:t>200</a:t>
            </a:r>
            <a:r>
              <a:rPr lang="en-US" sz="1200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sz="1200" dirty="0">
                <a:solidFill>
                  <a:srgbClr val="B5CEA8"/>
                </a:solidFill>
                <a:latin typeface="Consolas"/>
              </a:rPr>
              <a:t>300</a:t>
            </a:r>
            <a:r>
              <a:rPr lang="en-US" sz="1200" dirty="0">
                <a:solidFill>
                  <a:srgbClr val="CCCCCC"/>
                </a:solidFill>
                <a:latin typeface="Consolas"/>
              </a:rPr>
              <a:t>],</a:t>
            </a:r>
            <a:endParaRPr lang="en-US" sz="1200">
              <a:solidFill>
                <a:srgbClr val="0F496F"/>
              </a:solidFill>
              <a:latin typeface="Century Gothic"/>
            </a:endParaRPr>
          </a:p>
          <a:p>
            <a:pPr>
              <a:buClr>
                <a:srgbClr val="FFFFFF"/>
              </a:buClr>
            </a:pPr>
            <a:r>
              <a:rPr lang="en-US" sz="1200" dirty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200" dirty="0">
                <a:solidFill>
                  <a:srgbClr val="CE9178"/>
                </a:solidFill>
                <a:latin typeface="Consolas"/>
              </a:rPr>
              <a:t>'classifier__</a:t>
            </a:r>
            <a:r>
              <a:rPr lang="en-US" sz="1200" dirty="0" err="1">
                <a:solidFill>
                  <a:srgbClr val="CE9178"/>
                </a:solidFill>
                <a:latin typeface="Consolas"/>
              </a:rPr>
              <a:t>max_depth</a:t>
            </a:r>
            <a:r>
              <a:rPr lang="en-US" sz="1200" dirty="0">
                <a:solidFill>
                  <a:srgbClr val="CE9178"/>
                </a:solidFill>
                <a:latin typeface="Consolas"/>
              </a:rPr>
              <a:t>'</a:t>
            </a:r>
            <a:r>
              <a:rPr lang="en-US" sz="1200" dirty="0">
                <a:solidFill>
                  <a:srgbClr val="CCCCCC"/>
                </a:solidFill>
                <a:latin typeface="Consolas"/>
              </a:rPr>
              <a:t>: [</a:t>
            </a:r>
            <a:r>
              <a:rPr lang="en-US" sz="1200" dirty="0">
                <a:solidFill>
                  <a:srgbClr val="569CD6"/>
                </a:solidFill>
                <a:latin typeface="Consolas"/>
              </a:rPr>
              <a:t>None</a:t>
            </a:r>
            <a:r>
              <a:rPr lang="en-US" sz="1200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sz="1200" dirty="0">
                <a:solidFill>
                  <a:srgbClr val="B5CEA8"/>
                </a:solidFill>
                <a:latin typeface="Consolas"/>
              </a:rPr>
              <a:t>10</a:t>
            </a:r>
            <a:r>
              <a:rPr lang="en-US" sz="1200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sz="1200" dirty="0">
                <a:solidFill>
                  <a:srgbClr val="B5CEA8"/>
                </a:solidFill>
                <a:latin typeface="Consolas"/>
              </a:rPr>
              <a:t>20</a:t>
            </a:r>
            <a:r>
              <a:rPr lang="en-US" sz="1200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sz="1200" dirty="0">
                <a:solidFill>
                  <a:srgbClr val="B5CEA8"/>
                </a:solidFill>
                <a:latin typeface="Consolas"/>
              </a:rPr>
              <a:t>30</a:t>
            </a:r>
            <a:r>
              <a:rPr lang="en-US" sz="1200" dirty="0">
                <a:solidFill>
                  <a:srgbClr val="CCCCCC"/>
                </a:solidFill>
                <a:latin typeface="Consolas"/>
              </a:rPr>
              <a:t>],</a:t>
            </a:r>
            <a:endParaRPr lang="en-US" sz="1200">
              <a:solidFill>
                <a:srgbClr val="0F496F"/>
              </a:solidFill>
              <a:latin typeface="Century Gothic"/>
            </a:endParaRPr>
          </a:p>
          <a:p>
            <a:pPr>
              <a:buClr>
                <a:srgbClr val="FFFFFF"/>
              </a:buClr>
            </a:pPr>
            <a:r>
              <a:rPr lang="en-US" sz="1200" dirty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200" dirty="0">
                <a:solidFill>
                  <a:srgbClr val="CE9178"/>
                </a:solidFill>
                <a:latin typeface="Consolas"/>
              </a:rPr>
              <a:t>'classifier__</a:t>
            </a:r>
            <a:r>
              <a:rPr lang="en-US" sz="1200" dirty="0" err="1">
                <a:solidFill>
                  <a:srgbClr val="CE9178"/>
                </a:solidFill>
                <a:latin typeface="Consolas"/>
              </a:rPr>
              <a:t>min_samples_split</a:t>
            </a:r>
            <a:r>
              <a:rPr lang="en-US" sz="1200" dirty="0">
                <a:solidFill>
                  <a:srgbClr val="CE9178"/>
                </a:solidFill>
                <a:latin typeface="Consolas"/>
              </a:rPr>
              <a:t>'</a:t>
            </a:r>
            <a:r>
              <a:rPr lang="en-US" sz="1200" dirty="0">
                <a:solidFill>
                  <a:srgbClr val="CCCCCC"/>
                </a:solidFill>
                <a:latin typeface="Consolas"/>
              </a:rPr>
              <a:t>: [</a:t>
            </a:r>
            <a:r>
              <a:rPr lang="en-US" sz="1200" dirty="0">
                <a:solidFill>
                  <a:srgbClr val="B5CEA8"/>
                </a:solidFill>
                <a:latin typeface="Consolas"/>
              </a:rPr>
              <a:t>2</a:t>
            </a:r>
            <a:r>
              <a:rPr lang="en-US" sz="1200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sz="1200" dirty="0">
                <a:solidFill>
                  <a:srgbClr val="B5CEA8"/>
                </a:solidFill>
                <a:latin typeface="Consolas"/>
              </a:rPr>
              <a:t>5</a:t>
            </a:r>
            <a:r>
              <a:rPr lang="en-US" sz="1200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sz="1200" dirty="0">
                <a:solidFill>
                  <a:srgbClr val="B5CEA8"/>
                </a:solidFill>
                <a:latin typeface="Consolas"/>
              </a:rPr>
              <a:t>10</a:t>
            </a:r>
            <a:r>
              <a:rPr lang="en-US" sz="1200" dirty="0">
                <a:solidFill>
                  <a:srgbClr val="CCCCCC"/>
                </a:solidFill>
                <a:latin typeface="Consolas"/>
              </a:rPr>
              <a:t>],</a:t>
            </a:r>
            <a:endParaRPr lang="en-US" sz="1200">
              <a:solidFill>
                <a:srgbClr val="0F496F"/>
              </a:solidFill>
              <a:latin typeface="Century Gothic"/>
            </a:endParaRPr>
          </a:p>
          <a:p>
            <a:pPr>
              <a:buClr>
                <a:srgbClr val="FFFFFF"/>
              </a:buClr>
            </a:pPr>
            <a:r>
              <a:rPr lang="en-US" sz="1200" dirty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200" dirty="0">
                <a:solidFill>
                  <a:srgbClr val="CE9178"/>
                </a:solidFill>
                <a:latin typeface="Consolas"/>
              </a:rPr>
              <a:t>'classifier__</a:t>
            </a:r>
            <a:r>
              <a:rPr lang="en-US" sz="1200" dirty="0" err="1">
                <a:solidFill>
                  <a:srgbClr val="CE9178"/>
                </a:solidFill>
                <a:latin typeface="Consolas"/>
              </a:rPr>
              <a:t>min_samples_leaf</a:t>
            </a:r>
            <a:r>
              <a:rPr lang="en-US" sz="1200" dirty="0">
                <a:solidFill>
                  <a:srgbClr val="CE9178"/>
                </a:solidFill>
                <a:latin typeface="Consolas"/>
              </a:rPr>
              <a:t>'</a:t>
            </a:r>
            <a:r>
              <a:rPr lang="en-US" sz="1200" dirty="0">
                <a:solidFill>
                  <a:srgbClr val="CCCCCC"/>
                </a:solidFill>
                <a:latin typeface="Consolas"/>
              </a:rPr>
              <a:t>: [</a:t>
            </a:r>
            <a:r>
              <a:rPr lang="en-US" sz="1200" dirty="0">
                <a:solidFill>
                  <a:srgbClr val="B5CEA8"/>
                </a:solidFill>
                <a:latin typeface="Consolas"/>
              </a:rPr>
              <a:t>1</a:t>
            </a:r>
            <a:r>
              <a:rPr lang="en-US" sz="1200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sz="1200" dirty="0">
                <a:solidFill>
                  <a:srgbClr val="B5CEA8"/>
                </a:solidFill>
                <a:latin typeface="Consolas"/>
              </a:rPr>
              <a:t>2</a:t>
            </a:r>
            <a:r>
              <a:rPr lang="en-US" sz="1200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sz="1200" dirty="0">
                <a:solidFill>
                  <a:srgbClr val="B5CEA8"/>
                </a:solidFill>
                <a:latin typeface="Consolas"/>
              </a:rPr>
              <a:t>4</a:t>
            </a:r>
            <a:r>
              <a:rPr lang="en-US" sz="1200" dirty="0">
                <a:solidFill>
                  <a:srgbClr val="CCCCCC"/>
                </a:solidFill>
                <a:latin typeface="Consolas"/>
              </a:rPr>
              <a:t>]</a:t>
            </a:r>
            <a:endParaRPr lang="en-US" sz="1200">
              <a:solidFill>
                <a:srgbClr val="0F496F"/>
              </a:solidFill>
              <a:latin typeface="Century Gothic"/>
            </a:endParaRPr>
          </a:p>
          <a:p>
            <a:pPr>
              <a:buClr>
                <a:srgbClr val="FFFFFF"/>
              </a:buClr>
            </a:pPr>
            <a:r>
              <a:rPr lang="en-US" sz="1200" dirty="0">
                <a:solidFill>
                  <a:srgbClr val="CCCCCC"/>
                </a:solidFill>
                <a:latin typeface="Consolas"/>
              </a:rPr>
              <a:t>}</a:t>
            </a:r>
            <a:endParaRPr lang="en-US">
              <a:solidFill>
                <a:srgbClr val="0F496F"/>
              </a:solidFill>
              <a:latin typeface="Century Gothic"/>
            </a:endParaRPr>
          </a:p>
          <a:p>
            <a:r>
              <a:rPr lang="en-US" dirty="0">
                <a:ea typeface="+mn-lt"/>
                <a:cs typeface="+mn-lt"/>
              </a:rPr>
              <a:t>Best Params: number of estimators : 300, </a:t>
            </a:r>
          </a:p>
          <a:p>
            <a:r>
              <a:rPr lang="en-US" dirty="0">
                <a:ea typeface="+mn-lt"/>
                <a:cs typeface="+mn-lt"/>
              </a:rPr>
              <a:t>Minimum samples split : 5, </a:t>
            </a:r>
          </a:p>
          <a:p>
            <a:r>
              <a:rPr lang="en-US" dirty="0">
                <a:ea typeface="+mn-lt"/>
                <a:cs typeface="+mn-lt"/>
              </a:rPr>
              <a:t>Minimum samples leaf : 2, </a:t>
            </a:r>
          </a:p>
          <a:p>
            <a:r>
              <a:rPr lang="en-US" dirty="0">
                <a:ea typeface="+mn-lt"/>
                <a:cs typeface="+mn-lt"/>
              </a:rPr>
              <a:t>Maximum depth : 30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5015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D8FD7-C216-6212-3992-27C02765A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Best Model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10360-8CA9-DF97-0E64-FD2EF143C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The best model which was chosen was the 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 tuned Random Forest model.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saves it to (test_predictions.csv )for analysis in the evaluation notebook.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0691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88B0D-CFE5-0FC1-8FD7-0013F7807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969" y="210521"/>
            <a:ext cx="8534400" cy="1507067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Model Evaluation Overview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EB11E-D0EC-D18C-6176-A1033560C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969" y="1962665"/>
            <a:ext cx="11506886" cy="4507698"/>
          </a:xfrm>
        </p:spPr>
        <p:txBody>
          <a:bodyPr/>
          <a:lstStyle/>
          <a:p>
            <a:r>
              <a:rPr lang="en-US">
                <a:ea typeface="+mn-lt"/>
                <a:cs typeface="+mn-lt"/>
              </a:rPr>
              <a:t>Evaluate model predictions</a:t>
            </a:r>
            <a:endParaRPr lang="en-US"/>
          </a:p>
          <a:p>
            <a:pPr>
              <a:buClr>
                <a:srgbClr val="FFFFFF"/>
              </a:buClr>
            </a:pPr>
            <a:r>
              <a:rPr lang="en-US">
                <a:ea typeface="+mn-lt"/>
                <a:cs typeface="+mn-lt"/>
              </a:rPr>
              <a:t>Interpret metrics</a:t>
            </a:r>
            <a:endParaRPr lang="en-US"/>
          </a:p>
          <a:p>
            <a:pPr>
              <a:buClr>
                <a:srgbClr val="FFFFFF"/>
              </a:buClr>
            </a:pPr>
            <a:r>
              <a:rPr lang="en-US">
                <a:ea typeface="+mn-lt"/>
                <a:cs typeface="+mn-lt"/>
              </a:rPr>
              <a:t>Analyze mistakes</a:t>
            </a:r>
            <a:endParaRPr lang="en-US"/>
          </a:p>
          <a:p>
            <a:pPr>
              <a:buClr>
                <a:srgbClr val="FFFFFF"/>
              </a:buClr>
            </a:pPr>
            <a:r>
              <a:rPr lang="en-US">
                <a:ea typeface="+mn-lt"/>
                <a:cs typeface="+mn-lt"/>
              </a:rPr>
              <a:t>Estimate financial impact</a:t>
            </a:r>
            <a:endParaRPr lang="en-US"/>
          </a:p>
          <a:p>
            <a:pPr>
              <a:buClr>
                <a:srgbClr val="FFFFFF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0992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26116-0587-3E0A-DD35-6459583DE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224251"/>
            <a:ext cx="8534400" cy="985338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Key Performance Metrics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7FBC4-C648-A6B2-67EF-62EC311B0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207531"/>
            <a:ext cx="9358183" cy="5503102"/>
          </a:xfrm>
        </p:spPr>
        <p:txBody>
          <a:bodyPr>
            <a:normAutofit/>
          </a:bodyPr>
          <a:lstStyle/>
          <a:p>
            <a:r>
              <a:rPr lang="en-US" b="1">
                <a:ea typeface="+mn-lt"/>
                <a:cs typeface="+mn-lt"/>
              </a:rPr>
              <a:t>Precision: 0.52</a:t>
            </a:r>
            <a:br>
              <a:rPr lang="en-US" b="1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 → When we predict fraud, we are correct 52% of the time.</a:t>
            </a:r>
            <a:endParaRPr lang="en-US"/>
          </a:p>
          <a:p>
            <a:pPr>
              <a:buClr>
                <a:srgbClr val="FFFFFF"/>
              </a:buClr>
            </a:pPr>
            <a:r>
              <a:rPr lang="en-US" b="1">
                <a:ea typeface="+mn-lt"/>
                <a:cs typeface="+mn-lt"/>
              </a:rPr>
              <a:t>Recall: 0.7723</a:t>
            </a:r>
            <a:br>
              <a:rPr lang="en-US" b="1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 → We catch 77% of actual fraud cases</a:t>
            </a:r>
            <a:r>
              <a:rPr lang="en-US">
                <a:ea typeface="+mn-lt"/>
                <a:cs typeface="+mn-lt"/>
              </a:rPr>
              <a:t>.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→ This is strong and very important — missing fraud is costly.</a:t>
            </a:r>
            <a:endParaRPr lang="en-US"/>
          </a:p>
          <a:p>
            <a:pPr>
              <a:buClr>
                <a:srgbClr val="FFFFFF"/>
              </a:buClr>
            </a:pPr>
            <a:r>
              <a:rPr lang="en-US" b="1">
                <a:ea typeface="+mn-lt"/>
                <a:cs typeface="+mn-lt"/>
              </a:rPr>
              <a:t>F1 Score: 0.6215</a:t>
            </a:r>
            <a:br>
              <a:rPr lang="en-US" b="1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 → Balanced measure of precision and recall.</a:t>
            </a:r>
            <a:endParaRPr lang="en-US"/>
          </a:p>
          <a:p>
            <a:pPr>
              <a:buClr>
                <a:srgbClr val="FFFFFF"/>
              </a:buClr>
            </a:pPr>
            <a:r>
              <a:rPr lang="en-US" b="1">
                <a:ea typeface="+mn-lt"/>
                <a:cs typeface="+mn-lt"/>
              </a:rPr>
              <a:t>ROC-AUC: 0.9464</a:t>
            </a:r>
            <a:br>
              <a:rPr lang="en-US" b="1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 → Excellent separation between fraud vs non-fraud.</a:t>
            </a:r>
            <a:endParaRPr lang="en-US"/>
          </a:p>
          <a:p>
            <a:pPr>
              <a:buClr>
                <a:srgbClr val="FFFFFF"/>
              </a:buClr>
            </a:pPr>
            <a:r>
              <a:rPr lang="en-US" b="1">
                <a:ea typeface="+mn-lt"/>
                <a:cs typeface="+mn-lt"/>
              </a:rPr>
              <a:t>PR-AUC: 0.7370</a:t>
            </a:r>
            <a:br>
              <a:rPr lang="en-US" b="1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 → Most important metric for imbalanced data.</a:t>
            </a:r>
            <a:br>
              <a:rPr lang="en-US" b="1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 → Shows strong ability to detect rare fraud cases.</a:t>
            </a:r>
            <a:endParaRPr lang="en-US"/>
          </a:p>
          <a:p>
            <a:pPr>
              <a:buClr>
                <a:srgbClr val="FFFFFF"/>
              </a:buClr>
            </a:pPr>
            <a:r>
              <a:rPr lang="en-US">
                <a:ea typeface="+mn-lt"/>
                <a:cs typeface="+mn-lt"/>
              </a:rPr>
              <a:t>Even though precision is moderate, recall is high, which is what matters most in fraud detection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9424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DC45-C99A-6AF6-92C3-6509BF021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700" y="400241"/>
            <a:ext cx="8534400" cy="990671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Confusion Matrix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3EF77-829A-ECCF-E25F-72ABD57EE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700" y="1611536"/>
            <a:ext cx="10467738" cy="4421349"/>
          </a:xfrm>
        </p:spPr>
        <p:txBody>
          <a:bodyPr/>
          <a:lstStyle/>
          <a:p>
            <a:pPr>
              <a:buClr>
                <a:srgbClr val="FFFFFF"/>
              </a:buClr>
              <a:buFont typeface="Wingdings 3"/>
              <a:buChar char=""/>
            </a:pPr>
            <a:r>
              <a:rPr lang="en-US" b="1">
                <a:ea typeface="+mn-lt"/>
                <a:cs typeface="+mn-lt"/>
              </a:rPr>
              <a:t>TP (78):</a:t>
            </a:r>
            <a:r>
              <a:rPr lang="en-US">
                <a:ea typeface="+mn-lt"/>
                <a:cs typeface="+mn-lt"/>
              </a:rPr>
              <a:t> Correctly caught fraud</a:t>
            </a:r>
            <a:endParaRPr lang="en-US"/>
          </a:p>
          <a:p>
            <a:pPr>
              <a:buClr>
                <a:srgbClr val="FFFFFF"/>
              </a:buClr>
              <a:buFont typeface="Wingdings 3"/>
              <a:buChar char=""/>
            </a:pPr>
            <a:r>
              <a:rPr lang="en-US" b="1">
                <a:ea typeface="+mn-lt"/>
                <a:cs typeface="+mn-lt"/>
              </a:rPr>
              <a:t>TN (909):</a:t>
            </a:r>
            <a:r>
              <a:rPr lang="en-US">
                <a:ea typeface="+mn-lt"/>
                <a:cs typeface="+mn-lt"/>
              </a:rPr>
              <a:t> Correctly cleared legitimate providers</a:t>
            </a:r>
            <a:endParaRPr lang="en-US"/>
          </a:p>
          <a:p>
            <a:pPr>
              <a:buClr>
                <a:srgbClr val="FFFFFF"/>
              </a:buClr>
              <a:buFont typeface="Wingdings 3"/>
              <a:buChar char=""/>
            </a:pPr>
            <a:r>
              <a:rPr lang="en-US" b="1">
                <a:ea typeface="+mn-lt"/>
                <a:cs typeface="+mn-lt"/>
              </a:rPr>
              <a:t>FP (72):</a:t>
            </a:r>
            <a:r>
              <a:rPr lang="en-US">
                <a:ea typeface="+mn-lt"/>
                <a:cs typeface="+mn-lt"/>
              </a:rPr>
              <a:t> Investigated providers that were actually clean</a:t>
            </a:r>
            <a:endParaRPr lang="en-US"/>
          </a:p>
          <a:p>
            <a:pPr>
              <a:buClr>
                <a:srgbClr val="FFFFFF"/>
              </a:buClr>
              <a:buFont typeface="Wingdings 3"/>
              <a:buChar char=""/>
            </a:pPr>
            <a:r>
              <a:rPr lang="en-US" b="1">
                <a:ea typeface="+mn-lt"/>
                <a:cs typeface="+mn-lt"/>
              </a:rPr>
              <a:t>FN (23):</a:t>
            </a:r>
            <a:r>
              <a:rPr lang="en-US">
                <a:ea typeface="+mn-lt"/>
                <a:cs typeface="+mn-lt"/>
              </a:rPr>
              <a:t> Fraud we </a:t>
            </a:r>
            <a:r>
              <a:rPr lang="en-US" i="1">
                <a:ea typeface="+mn-lt"/>
                <a:cs typeface="+mn-lt"/>
              </a:rPr>
              <a:t>missed</a:t>
            </a:r>
            <a:r>
              <a:rPr lang="en-US">
                <a:ea typeface="+mn-lt"/>
                <a:cs typeface="+mn-lt"/>
              </a:rPr>
              <a:t> — the worst outcome</a:t>
            </a:r>
            <a:endParaRPr lang="en-US"/>
          </a:p>
          <a:p>
            <a:pPr>
              <a:buClr>
                <a:srgbClr val="FFFFFF"/>
              </a:buClr>
              <a:buFont typeface="Wingdings 3"/>
              <a:buChar char=""/>
            </a:pPr>
            <a:r>
              <a:rPr lang="en-US">
                <a:ea typeface="+mn-lt"/>
                <a:cs typeface="+mn-lt"/>
              </a:rPr>
              <a:t>False negatives (23) are the biggest risk because they represent real fraud that continues unnoticed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6972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63F1F-A118-4122-B420-07B7FD61D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299764"/>
            <a:ext cx="8534400" cy="1507067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Cost Analysis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7C2EA-8451-8524-EC54-4A068A359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564504"/>
            <a:ext cx="8534400" cy="5001968"/>
          </a:xfrm>
        </p:spPr>
        <p:txBody>
          <a:bodyPr/>
          <a:lstStyle/>
          <a:p>
            <a:r>
              <a:rPr lang="en-US">
                <a:ea typeface="+mn-lt"/>
                <a:cs typeface="+mn-lt"/>
              </a:rPr>
              <a:t>Assigned costs:</a:t>
            </a:r>
            <a:endParaRPr lang="en-US"/>
          </a:p>
          <a:p>
            <a:pPr>
              <a:buClr>
                <a:srgbClr val="FFFFFF"/>
              </a:buClr>
            </a:pPr>
            <a:r>
              <a:rPr lang="en-US" b="1">
                <a:ea typeface="+mn-lt"/>
                <a:cs typeface="+mn-lt"/>
              </a:rPr>
              <a:t>False Negative = $10,000</a:t>
            </a:r>
            <a:endParaRPr lang="en-US"/>
          </a:p>
          <a:p>
            <a:pPr>
              <a:buClr>
                <a:srgbClr val="FFFFFF"/>
              </a:buClr>
            </a:pPr>
            <a:r>
              <a:rPr lang="en-US" b="1">
                <a:ea typeface="+mn-lt"/>
                <a:cs typeface="+mn-lt"/>
              </a:rPr>
              <a:t>False Positive = $1,000</a:t>
            </a:r>
            <a:endParaRPr lang="en-US"/>
          </a:p>
          <a:p>
            <a:pPr>
              <a:buClr>
                <a:srgbClr val="FFFFFF"/>
              </a:buClr>
            </a:pPr>
            <a:r>
              <a:rPr lang="en-US">
                <a:ea typeface="+mn-lt"/>
                <a:cs typeface="+mn-lt"/>
              </a:rPr>
              <a:t>Calculated cost:</a:t>
            </a:r>
            <a:endParaRPr lang="en-US"/>
          </a:p>
          <a:p>
            <a:pPr>
              <a:buClr>
                <a:srgbClr val="FFFFFF"/>
              </a:buClr>
            </a:pPr>
            <a:r>
              <a:rPr lang="en-US">
                <a:ea typeface="+mn-lt"/>
                <a:cs typeface="+mn-lt"/>
              </a:rPr>
              <a:t>FN cost = </a:t>
            </a:r>
            <a:r>
              <a:rPr lang="en-US" b="1">
                <a:ea typeface="+mn-lt"/>
                <a:cs typeface="+mn-lt"/>
              </a:rPr>
              <a:t>23 × 10,000 = $230,000</a:t>
            </a:r>
            <a:endParaRPr lang="en-US"/>
          </a:p>
          <a:p>
            <a:pPr>
              <a:buClr>
                <a:srgbClr val="FFFFFF"/>
              </a:buClr>
            </a:pPr>
            <a:r>
              <a:rPr lang="en-US">
                <a:ea typeface="+mn-lt"/>
                <a:cs typeface="+mn-lt"/>
              </a:rPr>
              <a:t>FP cost = </a:t>
            </a:r>
            <a:r>
              <a:rPr lang="en-US" b="1">
                <a:ea typeface="+mn-lt"/>
                <a:cs typeface="+mn-lt"/>
              </a:rPr>
              <a:t>72 × 1,000 = $72,000</a:t>
            </a:r>
            <a:endParaRPr lang="en-US"/>
          </a:p>
          <a:p>
            <a:pPr>
              <a:buClr>
                <a:srgbClr val="FFFFFF"/>
              </a:buClr>
            </a:pPr>
            <a:r>
              <a:rPr lang="en-US" b="1">
                <a:ea typeface="+mn-lt"/>
                <a:cs typeface="+mn-lt"/>
              </a:rPr>
              <a:t>Total model cost = $302,000</a:t>
            </a:r>
            <a:endParaRPr lang="en-US"/>
          </a:p>
          <a:p>
            <a:pPr>
              <a:buClr>
                <a:srgbClr val="FFFFFF"/>
              </a:buClr>
            </a:pPr>
            <a:r>
              <a:rPr lang="en-US">
                <a:ea typeface="+mn-lt"/>
                <a:cs typeface="+mn-lt"/>
              </a:rPr>
              <a:t>“Even though false positives are more frequent, false negatives are much more expensive.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One missed fraud case costs the same as ten false alarms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40801326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861D5-C5CF-42DB-3147-94FD56F47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509" y="3588035"/>
            <a:ext cx="8534400" cy="2859444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050">
                <a:ea typeface="+mj-lt"/>
                <a:cs typeface="+mj-lt"/>
              </a:rPr>
              <a:t>A. ROC Curve Explanation </a:t>
            </a:r>
            <a:endParaRPr lang="en-US" sz="1050"/>
          </a:p>
          <a:p>
            <a:endParaRPr lang="en-US" sz="1050"/>
          </a:p>
          <a:p>
            <a:r>
              <a:rPr lang="en-US" sz="1050">
                <a:ea typeface="+mj-lt"/>
                <a:cs typeface="+mj-lt"/>
              </a:rPr>
              <a:t>→The ROC curve plots True Positive Rate (Recall) vs False Positive Rate. </a:t>
            </a:r>
            <a:endParaRPr lang="en-US" sz="1050"/>
          </a:p>
          <a:p>
            <a:r>
              <a:rPr lang="en-US" sz="1050">
                <a:ea typeface="+mj-lt"/>
                <a:cs typeface="+mj-lt"/>
              </a:rPr>
              <a:t>→our ROC-AUC = 0.946 → Very high. </a:t>
            </a:r>
            <a:endParaRPr lang="en-US" sz="1050"/>
          </a:p>
          <a:p>
            <a:r>
              <a:rPr lang="en-US" sz="1050">
                <a:ea typeface="+mj-lt"/>
                <a:cs typeface="+mj-lt"/>
              </a:rPr>
              <a:t>This indicates: </a:t>
            </a:r>
            <a:endParaRPr lang="en-US" sz="1050"/>
          </a:p>
          <a:p>
            <a:r>
              <a:rPr lang="en-US" sz="1050">
                <a:ea typeface="+mj-lt"/>
                <a:cs typeface="+mj-lt"/>
              </a:rPr>
              <a:t>The model is excellent at ranking fraud cases above non-fraud cases. </a:t>
            </a:r>
            <a:endParaRPr lang="en-US" sz="1050"/>
          </a:p>
          <a:p>
            <a:r>
              <a:rPr lang="en-US" sz="1050">
                <a:ea typeface="+mj-lt"/>
                <a:cs typeface="+mj-lt"/>
              </a:rPr>
              <a:t>→The curve rises steeply toward the top-left corner → Strong discrimination performance. </a:t>
            </a:r>
            <a:endParaRPr lang="en-US" sz="1050"/>
          </a:p>
          <a:p>
            <a:endParaRPr lang="en-US" sz="1050"/>
          </a:p>
          <a:p>
            <a:r>
              <a:rPr lang="en-US" sz="1050">
                <a:ea typeface="+mj-lt"/>
                <a:cs typeface="+mj-lt"/>
              </a:rPr>
              <a:t>B. Precision-Recall Curve Explanation </a:t>
            </a:r>
            <a:endParaRPr lang="en-US" sz="1050"/>
          </a:p>
          <a:p>
            <a:endParaRPr lang="en-US" sz="1050"/>
          </a:p>
          <a:p>
            <a:r>
              <a:rPr lang="en-US" sz="1050">
                <a:ea typeface="+mj-lt"/>
                <a:cs typeface="+mj-lt"/>
              </a:rPr>
              <a:t>→PR curve is preferred when dealing with imbalanced data like fraud detection. </a:t>
            </a:r>
            <a:endParaRPr lang="en-US" sz="1050"/>
          </a:p>
          <a:p>
            <a:r>
              <a:rPr lang="en-US" sz="1050">
                <a:ea typeface="+mj-lt"/>
                <a:cs typeface="+mj-lt"/>
              </a:rPr>
              <a:t>→PR-AUC = 0.737, which is very strong given ~10% fraud prevalence. </a:t>
            </a:r>
            <a:endParaRPr lang="en-US" sz="1050"/>
          </a:p>
          <a:p>
            <a:r>
              <a:rPr lang="en-US" sz="1050">
                <a:ea typeface="+mj-lt"/>
                <a:cs typeface="+mj-lt"/>
              </a:rPr>
              <a:t>→High precision at low recall early in the curve → </a:t>
            </a:r>
            <a:endParaRPr lang="en-US" sz="1050"/>
          </a:p>
          <a:p>
            <a:r>
              <a:rPr lang="en-US" sz="1050">
                <a:ea typeface="+mj-lt"/>
                <a:cs typeface="+mj-lt"/>
              </a:rPr>
              <a:t>When the model predicts fraud, it is usually correct. </a:t>
            </a:r>
            <a:endParaRPr lang="en-US" sz="1050"/>
          </a:p>
          <a:p>
            <a:r>
              <a:rPr lang="en-US" sz="1050">
                <a:ea typeface="+mj-lt"/>
                <a:cs typeface="+mj-lt"/>
              </a:rPr>
              <a:t>→Recall gradually increases → </a:t>
            </a:r>
            <a:endParaRPr lang="en-US" sz="1050"/>
          </a:p>
          <a:p>
            <a:r>
              <a:rPr lang="en-US" sz="1050">
                <a:ea typeface="+mj-lt"/>
                <a:cs typeface="+mj-lt"/>
              </a:rPr>
              <a:t>Model can catch a large portion of fraud cases before precision collapses. </a:t>
            </a:r>
            <a:endParaRPr lang="en-US" sz="1050"/>
          </a:p>
          <a:p>
            <a:r>
              <a:rPr lang="en-US" sz="1050">
                <a:ea typeface="+mj-lt"/>
                <a:cs typeface="+mj-lt"/>
              </a:rPr>
              <a:t>→This shows that: </a:t>
            </a:r>
            <a:endParaRPr lang="en-US" sz="1050"/>
          </a:p>
          <a:p>
            <a:r>
              <a:rPr lang="en-US" sz="1050">
                <a:ea typeface="+mj-lt"/>
                <a:cs typeface="+mj-lt"/>
              </a:rPr>
              <a:t>The model performs very well even under class imbalance. </a:t>
            </a:r>
            <a:endParaRPr lang="en-US" sz="1050"/>
          </a:p>
          <a:p>
            <a:r>
              <a:rPr lang="en-US" sz="1050">
                <a:ea typeface="+mj-lt"/>
                <a:cs typeface="+mj-lt"/>
              </a:rPr>
              <a:t>High precision + good recall = effective real-world fraud detection.</a:t>
            </a:r>
          </a:p>
          <a:p>
            <a:endParaRPr lang="en-US" sz="90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507D090-E9C7-E844-F758-2C9D9D6821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3509" y="212356"/>
            <a:ext cx="8534400" cy="3010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0801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BA384-A3FC-B6EC-2806-93D6BEC1B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553712"/>
            <a:ext cx="8534400" cy="303106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100">
                <a:ea typeface="+mj-lt"/>
                <a:cs typeface="+mj-lt"/>
              </a:rPr>
              <a:t>A. Histogram – "Probability Distribution by True Label" </a:t>
            </a:r>
            <a:endParaRPr lang="en-US" sz="1100"/>
          </a:p>
          <a:p>
            <a:r>
              <a:rPr lang="en-US" sz="1100">
                <a:ea typeface="+mj-lt"/>
                <a:cs typeface="+mj-lt"/>
              </a:rPr>
              <a:t>→The blue bars (Non-Fraud providers) are heavily concentrated near 0.0–0.05, meaning </a:t>
            </a:r>
            <a:endParaRPr lang="en-US" sz="1100"/>
          </a:p>
          <a:p>
            <a:r>
              <a:rPr lang="en-US" sz="1100">
                <a:ea typeface="+mj-lt"/>
                <a:cs typeface="+mj-lt"/>
              </a:rPr>
              <a:t>the model assigns very low fraud probabilities to most legitimate providers. </a:t>
            </a:r>
          </a:p>
          <a:p>
            <a:r>
              <a:rPr lang="en-US" sz="1100">
                <a:ea typeface="+mj-lt"/>
                <a:cs typeface="+mj-lt"/>
              </a:rPr>
              <a:t>→The red bars (Fraud providers) are mostly placed around 0.7–1.0, indicating </a:t>
            </a:r>
            <a:endParaRPr lang="en-US" sz="1100"/>
          </a:p>
          <a:p>
            <a:r>
              <a:rPr lang="en-US" sz="1100">
                <a:ea typeface="+mj-lt"/>
                <a:cs typeface="+mj-lt"/>
              </a:rPr>
              <a:t>fraudulent providers tend to get high predicted probabilities. </a:t>
            </a:r>
            <a:endParaRPr lang="en-US" sz="1100"/>
          </a:p>
          <a:p>
            <a:r>
              <a:rPr lang="en-US" sz="1100">
                <a:ea typeface="+mj-lt"/>
                <a:cs typeface="+mj-lt"/>
              </a:rPr>
              <a:t>→There is a clear separation between the two groups, which means: </a:t>
            </a:r>
            <a:endParaRPr lang="en-US" sz="1100"/>
          </a:p>
          <a:p>
            <a:r>
              <a:rPr lang="en-US" sz="1100">
                <a:ea typeface="+mj-lt"/>
                <a:cs typeface="+mj-lt"/>
              </a:rPr>
              <a:t>Overall: </a:t>
            </a:r>
            <a:endParaRPr lang="en-US" sz="1100"/>
          </a:p>
          <a:p>
            <a:r>
              <a:rPr lang="en-US" sz="1100">
                <a:ea typeface="+mj-lt"/>
                <a:cs typeface="+mj-lt"/>
              </a:rPr>
              <a:t>This is a strong sign that our underlying model and features are truly capturing fraudulent behavior patterns. </a:t>
            </a:r>
            <a:endParaRPr lang="en-US" sz="1100"/>
          </a:p>
          <a:p>
            <a:endParaRPr lang="en-US" sz="1100"/>
          </a:p>
          <a:p>
            <a:r>
              <a:rPr lang="en-US" sz="1100">
                <a:ea typeface="+mj-lt"/>
                <a:cs typeface="+mj-lt"/>
              </a:rPr>
              <a:t>B. Boxplot – "Probability Distribution (Box Plot)" </a:t>
            </a:r>
            <a:endParaRPr lang="en-US" sz="1100"/>
          </a:p>
          <a:p>
            <a:r>
              <a:rPr lang="en-US" sz="1100">
                <a:ea typeface="+mj-lt"/>
                <a:cs typeface="+mj-lt"/>
              </a:rPr>
              <a:t>The Non-Fraud box is extremely compressed near 0.0 with some right-tail outliers. </a:t>
            </a:r>
            <a:endParaRPr lang="en-US" sz="1100"/>
          </a:p>
          <a:p>
            <a:r>
              <a:rPr lang="en-US" sz="1100">
                <a:ea typeface="+mj-lt"/>
                <a:cs typeface="+mj-lt"/>
              </a:rPr>
              <a:t>→ This means almost all legitimate providers receive very low predictions. </a:t>
            </a:r>
            <a:endParaRPr lang="en-US" sz="1100"/>
          </a:p>
          <a:p>
            <a:r>
              <a:rPr lang="en-US" sz="1100">
                <a:ea typeface="+mj-lt"/>
                <a:cs typeface="+mj-lt"/>
              </a:rPr>
              <a:t>The Fraud box has a high median (~0.75) and spans a higher probability range. </a:t>
            </a:r>
            <a:endParaRPr lang="en-US" sz="1100"/>
          </a:p>
          <a:p>
            <a:r>
              <a:rPr lang="en-US" sz="1100">
                <a:ea typeface="+mj-lt"/>
                <a:cs typeface="+mj-lt"/>
              </a:rPr>
              <a:t>→ This indicates fraud predictions are consistently high for true fraud cases. </a:t>
            </a:r>
            <a:endParaRPr lang="en-US" sz="1100"/>
          </a:p>
          <a:p>
            <a:r>
              <a:rPr lang="en-US" sz="1100">
                <a:ea typeface="+mj-lt"/>
                <a:cs typeface="+mj-lt"/>
              </a:rPr>
              <a:t>        Overall: </a:t>
            </a:r>
            <a:endParaRPr lang="en-US" sz="1100"/>
          </a:p>
          <a:p>
            <a:r>
              <a:rPr lang="en-US" sz="1100">
                <a:ea typeface="+mj-lt"/>
                <a:cs typeface="+mj-lt"/>
              </a:rPr>
              <a:t>        Fraud and non-fraud providers have clearly different probability distributions. </a:t>
            </a:r>
            <a:endParaRPr lang="en-US" sz="1100"/>
          </a:p>
          <a:p>
            <a:r>
              <a:rPr lang="en-US" sz="1100">
                <a:ea typeface="+mj-lt"/>
                <a:cs typeface="+mj-lt"/>
              </a:rPr>
              <a:t>        The model provides well-separated scores — ideal for threshold tuning.</a:t>
            </a:r>
          </a:p>
          <a:p>
            <a:endParaRPr lang="en-US" sz="80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E24CC58-CE86-3DBD-83CC-DC1E5D00BB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4212" y="151359"/>
            <a:ext cx="8184292" cy="327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9770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59331-625F-94DA-6E73-A45E3445E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13494"/>
            <a:ext cx="8534400" cy="1507067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Final Insights &amp; Takeaways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CF4B4-7859-E163-B093-15BA60072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461531"/>
            <a:ext cx="8534400" cy="4816617"/>
          </a:xfrm>
        </p:spPr>
        <p:txBody>
          <a:bodyPr>
            <a:normAutofit/>
          </a:bodyPr>
          <a:lstStyle/>
          <a:p>
            <a:r>
              <a:rPr lang="en-US">
                <a:ea typeface="+mn-lt"/>
                <a:cs typeface="+mn-lt"/>
              </a:rPr>
              <a:t>Model achieves </a:t>
            </a:r>
            <a:r>
              <a:rPr lang="en-US" b="1">
                <a:ea typeface="+mn-lt"/>
                <a:cs typeface="+mn-lt"/>
              </a:rPr>
              <a:t>high recall</a:t>
            </a:r>
            <a:r>
              <a:rPr lang="en-US">
                <a:ea typeface="+mn-lt"/>
                <a:cs typeface="+mn-lt"/>
              </a:rPr>
              <a:t> and </a:t>
            </a:r>
            <a:r>
              <a:rPr lang="en-US" b="1">
                <a:ea typeface="+mn-lt"/>
                <a:cs typeface="+mn-lt"/>
              </a:rPr>
              <a:t>strong PR-AUC</a:t>
            </a:r>
            <a:r>
              <a:rPr lang="en-US">
                <a:ea typeface="+mn-lt"/>
                <a:cs typeface="+mn-lt"/>
              </a:rPr>
              <a:t>, meaning it performs well where it matters most.</a:t>
            </a:r>
            <a:endParaRPr lang="en-US"/>
          </a:p>
          <a:p>
            <a:pPr>
              <a:buClr>
                <a:srgbClr val="FFFFFF"/>
              </a:buClr>
            </a:pPr>
            <a:r>
              <a:rPr lang="en-US" b="1">
                <a:ea typeface="+mn-lt"/>
                <a:cs typeface="+mn-lt"/>
              </a:rPr>
              <a:t>23 false negatives</a:t>
            </a:r>
            <a:r>
              <a:rPr lang="en-US">
                <a:ea typeface="+mn-lt"/>
                <a:cs typeface="+mn-lt"/>
              </a:rPr>
              <a:t> create the majority of the financial cost.</a:t>
            </a:r>
            <a:endParaRPr lang="en-US"/>
          </a:p>
          <a:p>
            <a:pPr>
              <a:buClr>
                <a:srgbClr val="FFFFFF"/>
              </a:buClr>
            </a:pPr>
            <a:r>
              <a:rPr lang="en-US" b="1">
                <a:ea typeface="+mn-lt"/>
                <a:cs typeface="+mn-lt"/>
              </a:rPr>
              <a:t>Precision is moderate (0.52)</a:t>
            </a:r>
            <a:r>
              <a:rPr lang="en-US">
                <a:ea typeface="+mn-lt"/>
                <a:cs typeface="+mn-lt"/>
              </a:rPr>
              <a:t>, meaning some legitimate providers are flagged — but that’s acceptable in fraud detection.</a:t>
            </a:r>
            <a:endParaRPr lang="en-US"/>
          </a:p>
          <a:p>
            <a:pPr>
              <a:buClr>
                <a:srgbClr val="FFFFFF"/>
              </a:buClr>
            </a:pPr>
            <a:r>
              <a:rPr lang="en-US">
                <a:ea typeface="+mn-lt"/>
                <a:cs typeface="+mn-lt"/>
              </a:rPr>
              <a:t>Top false positives had </a:t>
            </a:r>
            <a:r>
              <a:rPr lang="en-US" b="1">
                <a:ea typeface="+mn-lt"/>
                <a:cs typeface="+mn-lt"/>
              </a:rPr>
              <a:t>very high fraud probabilities</a:t>
            </a:r>
            <a:r>
              <a:rPr lang="en-US">
                <a:ea typeface="+mn-lt"/>
                <a:cs typeface="+mn-lt"/>
              </a:rPr>
              <a:t> → model found them suspicious but they weren’t actually fraud.</a:t>
            </a:r>
            <a:endParaRPr lang="en-US"/>
          </a:p>
          <a:p>
            <a:pPr>
              <a:buClr>
                <a:srgbClr val="FFFFFF"/>
              </a:buClr>
            </a:pPr>
            <a:r>
              <a:rPr lang="en-US">
                <a:ea typeface="+mn-lt"/>
                <a:cs typeface="+mn-lt"/>
              </a:rPr>
              <a:t>Top false negatives had </a:t>
            </a:r>
            <a:r>
              <a:rPr lang="en-US" b="1">
                <a:ea typeface="+mn-lt"/>
                <a:cs typeface="+mn-lt"/>
              </a:rPr>
              <a:t>very low predicted probabilities</a:t>
            </a:r>
            <a:r>
              <a:rPr lang="en-US">
                <a:ea typeface="+mn-lt"/>
                <a:cs typeface="+mn-lt"/>
              </a:rPr>
              <a:t> → these are the tricky, subtle fraud cases.</a:t>
            </a:r>
          </a:p>
          <a:p>
            <a:pPr>
              <a:buClr>
                <a:srgbClr val="FFFFFF"/>
              </a:buClr>
            </a:pPr>
            <a:r>
              <a:rPr lang="en-US">
                <a:ea typeface="+mn-lt"/>
                <a:cs typeface="+mn-lt"/>
              </a:rPr>
              <a:t>Our evaluation shows the model works well overall, but future improvements should focus on reducing false negatives to lower the total cost</a:t>
            </a:r>
            <a:endParaRPr lang="en-US"/>
          </a:p>
          <a:p>
            <a:pPr>
              <a:buClr>
                <a:srgbClr val="FFFFFF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5177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1C4BB-3B36-D219-65A5-8E93FD8AE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END </a:t>
            </a:r>
          </a:p>
        </p:txBody>
      </p:sp>
      <p:pic>
        <p:nvPicPr>
          <p:cNvPr id="4" name="Picture 3" descr="A person with his hand on his head&#10;&#10;AI-generated content may be incorrect.">
            <a:extLst>
              <a:ext uri="{FF2B5EF4-FFF2-40B4-BE49-F238E27FC236}">
                <a16:creationId xmlns:a16="http://schemas.microsoft.com/office/drawing/2014/main" id="{85286159-7A9F-16B8-289B-633DDE91C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148" y="520355"/>
            <a:ext cx="7904922" cy="396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647252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Slice</vt:lpstr>
      <vt:lpstr>PowerPoint Presentation</vt:lpstr>
      <vt:lpstr>OUTLINE</vt:lpstr>
      <vt:lpstr>Data exploration and feature engineering.</vt:lpstr>
      <vt:lpstr>Data quality check (checking for missing values and duplicates</vt:lpstr>
      <vt:lpstr>Preprocessing &amp; Merging </vt:lpstr>
      <vt:lpstr>Feature Engineering (Provider Level) </vt:lpstr>
      <vt:lpstr>Final dataset</vt:lpstr>
      <vt:lpstr>Class Imbalance </vt:lpstr>
      <vt:lpstr>Financials vs Fraud </vt:lpstr>
      <vt:lpstr>Claims Volume vs Fraud</vt:lpstr>
      <vt:lpstr>Correlation Heatmap </vt:lpstr>
      <vt:lpstr>Geographic Fraud Patterns </vt:lpstr>
      <vt:lpstr>Modeling </vt:lpstr>
      <vt:lpstr>Model training </vt:lpstr>
      <vt:lpstr>Results </vt:lpstr>
      <vt:lpstr>Hyperparameter tuning (random forest)</vt:lpstr>
      <vt:lpstr>Best Model </vt:lpstr>
      <vt:lpstr>Model Evaluation Overview</vt:lpstr>
      <vt:lpstr>Key Performance Metrics</vt:lpstr>
      <vt:lpstr>Confusion Matrix</vt:lpstr>
      <vt:lpstr>Cost Analysis</vt:lpstr>
      <vt:lpstr>A. ROC Curve Explanation   →The ROC curve plots True Positive Rate (Recall) vs False Positive Rate.  →our ROC-AUC = 0.946 → Very high.  This indicates:  The model is excellent at ranking fraud cases above non-fraud cases.  →The curve rises steeply toward the top-left corner → Strong discrimination performance.   B. Precision-Recall Curve Explanation   →PR curve is preferred when dealing with imbalanced data like fraud detection.  →PR-AUC = 0.737, which is very strong given ~10% fraud prevalence.  →High precision at low recall early in the curve →  When the model predicts fraud, it is usually correct.  →Recall gradually increases →  Model can catch a large portion of fraud cases before precision collapses.  →This shows that:  The model performs very well even under class imbalance.  High precision + good recall = effective real-world fraud detection. </vt:lpstr>
      <vt:lpstr>A. Histogram – "Probability Distribution by True Label"  →The blue bars (Non-Fraud providers) are heavily concentrated near 0.0–0.05, meaning  the model assigns very low fraud probabilities to most legitimate providers.  →The red bars (Fraud providers) are mostly placed around 0.7–1.0, indicating  fraudulent providers tend to get high predicted probabilities.  →There is a clear separation between the two groups, which means:  Overall:  This is a strong sign that our underlying model and features are truly capturing fraudulent behavior patterns.   B. Boxplot – "Probability Distribution (Box Plot)"  The Non-Fraud box is extremely compressed near 0.0 with some right-tail outliers.  → This means almost all legitimate providers receive very low predictions.  The Fraud box has a high median (~0.75) and spans a higher probability range.  → This indicates fraud predictions are consistently high for true fraud cases.          Overall:          Fraud and non-fraud providers have clearly different probability distributions.          The model provides well-separated scores — ideal for threshold tuning. </vt:lpstr>
      <vt:lpstr>Final Insights &amp; Takeaways</vt:lpstr>
      <vt:lpstr>THE END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933</cp:revision>
  <dcterms:created xsi:type="dcterms:W3CDTF">2025-12-03T20:13:46Z</dcterms:created>
  <dcterms:modified xsi:type="dcterms:W3CDTF">2025-12-03T21:37:19Z</dcterms:modified>
</cp:coreProperties>
</file>